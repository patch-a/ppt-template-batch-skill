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svg" ContentType="image/svg+xml"/>
  <Override PartName="/ppt/media/image13.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handoutMasterIdLst>
    <p:handoutMasterId r:id="rId10"/>
  </p:handoutMasterIdLst>
  <p:sldIdLst>
    <p:sldId id="284" r:id="rId3"/>
    <p:sldId id="285" r:id="rId4"/>
    <p:sldId id="333" r:id="rId5"/>
    <p:sldId id="334" r:id="rId6"/>
    <p:sldId id="335" r:id="rId7"/>
    <p:sldId id="336" r:id="rId8"/>
  </p:sldIdLst>
  <p:sldSz cx="12192000" cy="6858000"/>
  <p:notesSz cx="6858000" cy="9144000"/>
  <p:custDataLst>
    <p:tags r:id="rId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uSina" initials="A" lastIdx="0" clrIdx="0"/>
  <p:cmAuthor id="2" name="作者" initials="A" lastIdx="0" clrIdx="1"/>
  <p:cmAuthor id="3" name="Author" initials="A" lastIdx="0" clrIdx="2"/>
  <p:cmAuthor id="4" name="Mia Vida Villanueva" initials="MVV" lastIdx="0" clrIdx="3"/>
  <p:cmAuthor id="5" name="Chris French" initials="C" lastIdx="0" clrIdx="4"/>
  <p:cmAuthor id="6" name="Raman Sharma" initials="R" lastIdx="0" clrIdx="5"/>
  <p:cmAuthor id="7" name="lenovo" initials="l" lastIdx="0" clrIdx="6"/>
  <p:cmAuthor id="8" name="Administrator" initials="A" lastIdx="0" clrIdx="7"/>
  <p:cmAuthor id="9" name="宋洁然" initials="宋" lastIdx="0" clrIdx="8"/>
  <p:cmAuthor id="10" name="ming qiu" initials="m" lastIdx="0" clrIdx="9"/>
  <p:cmAuthor id="11" name="Bernice Zhong" initials="B" lastIdx="0" clrIdx="10"/>
  <p:cmAuthor id="12" name="Duane Forrester" initials="D" lastIdx="0" clrIdx="11"/>
  <p:cmAuthor id="13" name="Jimmy Lin" initials="J" lastIdx="0" clrIdx="12"/>
  <p:cmAuthor id="14" name="Shelby Gagnon" initials="S" lastIdx="0" clrIdx="13"/>
  <p:cmAuthor id="15" name="Stuart Olson (Allyis Inc)" initials="S" lastIdx="0" clrIdx="14"/>
  <p:cmAuthor id="16" name="Windows User" initials="W" lastIdx="0" clrIdx="15"/>
  <p:cmAuthor id="17" name="John Neitzel" initials="J" lastIdx="0" clrIdx="16"/>
  <p:cmAuthor id="18" name="David Delmar (Allyis Inc)" initials="D" lastIdx="0" clrIdx="17"/>
  <p:cmAuthor id="19" name="Sylvia Tedjo" initials="S" lastIdx="0" clrIdx="18"/>
  <p:cmAuthor id="20" name="Jill White" initials="J" lastIdx="0" clrIdx="19"/>
  <p:cmAuthor id="21" name="yxy" initials="y" lastIdx="0" clrIdx="2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F32E7"/>
    <a:srgbClr val="788DF8"/>
    <a:srgbClr val="2A49F4"/>
    <a:srgbClr val="7F93F8"/>
    <a:srgbClr val="0B428C"/>
    <a:srgbClr val="FFFF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gs" Target="tags/tag1.xml"/><Relationship Id="rId14" Type="http://schemas.openxmlformats.org/officeDocument/2006/relationships/commentAuthors" Target="commentAuthors.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handoutMaster" Target="handoutMasters/handout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charset="-122"/>
                <a:cs typeface="微软雅黑" panose="020B0503020204020204" charset="-122"/>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charset="-122"/>
                <a:cs typeface="微软雅黑" panose="020B0503020204020204"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charset="-122"/>
                <a:cs typeface="微软雅黑" panose="020B0503020204020204" charset="-122"/>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mj-ea"/>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mn-ea"/>
          <a:cs typeface="微软雅黑" panose="020B050302020402020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mn-ea"/>
          <a:cs typeface="微软雅黑" panose="020B0503020204020204"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mn-ea"/>
          <a:cs typeface="微软雅黑" panose="020B0503020204020204"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mn-ea"/>
          <a:cs typeface="微软雅黑" panose="020B0503020204020204"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mn-ea"/>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4.jpeg"/><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首页配图"/>
          <p:cNvPicPr>
            <a:picLocks noChangeAspect="1"/>
          </p:cNvPicPr>
          <p:nvPr/>
        </p:nvPicPr>
        <p:blipFill>
          <a:blip r:embed="rId1">
            <a:alphaModFix amt="40000"/>
          </a:blip>
          <a:stretch>
            <a:fillRect/>
          </a:stretch>
        </p:blipFill>
        <p:spPr>
          <a:xfrm>
            <a:off x="0" y="0"/>
            <a:ext cx="12192000" cy="6858000"/>
          </a:xfrm>
          <a:prstGeom prst="rect">
            <a:avLst/>
          </a:prstGeom>
          <a:noFill/>
        </p:spPr>
      </p:pic>
      <p:sp>
        <p:nvSpPr>
          <p:cNvPr id="3" name="矩形 2"/>
          <p:cNvSpPr/>
          <p:nvPr/>
        </p:nvSpPr>
        <p:spPr>
          <a:xfrm>
            <a:off x="-25400" y="0"/>
            <a:ext cx="12217400" cy="6858635"/>
          </a:xfrm>
          <a:prstGeom prst="rect">
            <a:avLst/>
          </a:prstGeom>
          <a:solidFill>
            <a:srgbClr val="0F32E7">
              <a:alpha val="58000"/>
            </a:srgbClr>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pPr>
            <a:endParaRPr lang="zh-CN" altLang="en-US"/>
          </a:p>
        </p:txBody>
      </p:sp>
      <p:sp>
        <p:nvSpPr>
          <p:cNvPr id="45" name="平行四边形 44"/>
          <p:cNvSpPr/>
          <p:nvPr/>
        </p:nvSpPr>
        <p:spPr>
          <a:xfrm>
            <a:off x="9051654" y="-1"/>
            <a:ext cx="3165157" cy="6857999"/>
          </a:xfrm>
          <a:prstGeom prst="parallelogram">
            <a:avLst>
              <a:gd name="adj" fmla="val 41336"/>
            </a:avLst>
          </a:prstGeom>
          <a:solidFill>
            <a:srgbClr val="0F32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Light" panose="020B0300000000000000" pitchFamily="34" charset="-122"/>
            </a:endParaRPr>
          </a:p>
        </p:txBody>
      </p:sp>
      <p:sp>
        <p:nvSpPr>
          <p:cNvPr id="5" name="文本框 4"/>
          <p:cNvSpPr txBox="1"/>
          <p:nvPr/>
        </p:nvSpPr>
        <p:spPr>
          <a:xfrm>
            <a:off x="412115" y="2205355"/>
            <a:ext cx="7338695" cy="922020"/>
          </a:xfrm>
          <a:prstGeom prst="rect">
            <a:avLst/>
          </a:prstGeom>
          <a:noFill/>
        </p:spPr>
        <p:txBody>
          <a:bodyPr wrap="square" rtlCol="0">
            <a:spAutoFit/>
          </a:bodyPr>
          <a:lstStyle/>
          <a:p>
            <a:pPr algn="dist"/>
            <a:r>
              <a:rPr lang="en-US" sz="5400" b="1" dirty="0">
                <a:solidFill>
                  <a:schemeClr val="bg1"/>
                </a:solidFill>
                <a:effectLst>
                  <a:outerShdw blurRad="63500" sx="102000" sy="102000" algn="ctr" rotWithShape="0">
                    <a:prstClr val="black">
                      <a:alpha val="20000"/>
                    </a:prstClr>
                  </a:outerShdw>
                </a:effectLst>
                <a:latin typeface="微软雅黑" panose="020B0503020204020204" charset="-122"/>
                <a:ea typeface="微软雅黑" panose="020B0503020204020204" charset="-122"/>
                <a:cs typeface="微软雅黑" panose="020B0503020204020204" charset="-122"/>
              </a:rPr>
              <a:t>2026</a:t>
            </a:r>
            <a:r>
              <a:rPr lang="zh-CN" altLang="en-US" sz="5400" b="1" dirty="0">
                <a:solidFill>
                  <a:schemeClr val="bg1"/>
                </a:solidFill>
                <a:effectLst>
                  <a:outerShdw blurRad="63500" sx="102000" sy="102000" algn="ctr" rotWithShape="0">
                    <a:prstClr val="black">
                      <a:alpha val="20000"/>
                    </a:prstClr>
                  </a:outerShdw>
                </a:effectLst>
                <a:latin typeface="微软雅黑" panose="020B0503020204020204" charset="-122"/>
                <a:ea typeface="微软雅黑" panose="020B0503020204020204" charset="-122"/>
                <a:cs typeface="微软雅黑" panose="020B0503020204020204" charset="-122"/>
              </a:rPr>
              <a:t>中高端礼盒</a:t>
            </a:r>
            <a:r>
              <a:rPr lang="zh-CN" altLang="en-US" sz="5400" b="1" dirty="0">
                <a:solidFill>
                  <a:schemeClr val="bg1"/>
                </a:solidFill>
                <a:effectLst>
                  <a:outerShdw blurRad="63500" sx="102000" sy="102000" algn="ctr" rotWithShape="0">
                    <a:prstClr val="black">
                      <a:alpha val="20000"/>
                    </a:prstClr>
                  </a:outerShdw>
                </a:effectLst>
                <a:latin typeface="微软雅黑" panose="020B0503020204020204" charset="-122"/>
                <a:ea typeface="微软雅黑" panose="020B0503020204020204" charset="-122"/>
                <a:cs typeface="微软雅黑" panose="020B0503020204020204" charset="-122"/>
              </a:rPr>
              <a:t>买家</a:t>
            </a:r>
            <a:endParaRPr lang="zh-CN" altLang="en-US" sz="5400" b="1" dirty="0">
              <a:solidFill>
                <a:schemeClr val="bg1"/>
              </a:solidFill>
              <a:effectLst>
                <a:outerShdw blurRad="63500" sx="102000" sy="102000" algn="ctr" rotWithShape="0">
                  <a:prstClr val="black">
                    <a:alpha val="20000"/>
                  </a:prstClr>
                </a:outerShdw>
              </a:effectLst>
              <a:latin typeface="微软雅黑" panose="020B0503020204020204" charset="-122"/>
              <a:ea typeface="微软雅黑" panose="020B0503020204020204" charset="-122"/>
              <a:cs typeface="微软雅黑" panose="020B0503020204020204" charset="-122"/>
            </a:endParaRPr>
          </a:p>
        </p:txBody>
      </p:sp>
      <p:sp>
        <p:nvSpPr>
          <p:cNvPr id="9" name="圆角矩形 8"/>
          <p:cNvSpPr/>
          <p:nvPr/>
        </p:nvSpPr>
        <p:spPr>
          <a:xfrm>
            <a:off x="412115" y="3278505"/>
            <a:ext cx="3580130" cy="939800"/>
          </a:xfrm>
          <a:prstGeom prst="roundRect">
            <a:avLst/>
          </a:prstGeom>
          <a:solidFill>
            <a:srgbClr val="0F32E7">
              <a:alpha val="54000"/>
            </a:srgbClr>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pPr>
            <a:endParaRPr lang="zh-CN" altLang="en-US"/>
          </a:p>
        </p:txBody>
      </p:sp>
      <p:sp>
        <p:nvSpPr>
          <p:cNvPr id="8" name="文本框 7"/>
          <p:cNvSpPr txBox="1"/>
          <p:nvPr/>
        </p:nvSpPr>
        <p:spPr>
          <a:xfrm>
            <a:off x="739140" y="3429000"/>
            <a:ext cx="2828290" cy="583565"/>
          </a:xfrm>
          <a:prstGeom prst="rect">
            <a:avLst/>
          </a:prstGeom>
        </p:spPr>
        <p:txBody>
          <a:bodyPr wrap="square">
            <a:spAutoFit/>
          </a:bodyPr>
          <a:p>
            <a:pPr algn="just"/>
            <a:r>
              <a:rPr lang="zh-CN" altLang="en-US" sz="3200" b="1">
                <a:solidFill>
                  <a:schemeClr val="bg1"/>
                </a:solidFill>
                <a:latin typeface="微软雅黑" panose="020B0503020204020204" charset="-122"/>
                <a:ea typeface="微软雅黑" panose="020B0503020204020204" charset="-122"/>
                <a:cs typeface="微软雅黑" panose="020B0503020204020204" charset="-122"/>
              </a:rPr>
              <a:t>国家：迪拜</a:t>
            </a:r>
            <a:endParaRPr lang="zh-CN" altLang="en-US" sz="3200" b="1">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22" name="图片 21" descr="公司logo-米奥兰特20250714-145035"/>
          <p:cNvPicPr>
            <a:picLocks noChangeAspect="1"/>
          </p:cNvPicPr>
          <p:nvPr/>
        </p:nvPicPr>
        <p:blipFill>
          <a:blip r:embed="rId2"/>
          <a:stretch>
            <a:fillRect/>
          </a:stretch>
        </p:blipFill>
        <p:spPr>
          <a:xfrm>
            <a:off x="9323070" y="506730"/>
            <a:ext cx="2225040" cy="329565"/>
          </a:xfrm>
          <a:prstGeom prst="rect">
            <a:avLst/>
          </a:prstGeom>
        </p:spPr>
      </p:pic>
      <p:pic>
        <p:nvPicPr>
          <p:cNvPr id="11" name="图片 10" descr="qrcode_for_gh_6c104907dbac_344"/>
          <p:cNvPicPr>
            <a:picLocks noChangeAspect="1"/>
          </p:cNvPicPr>
          <p:nvPr/>
        </p:nvPicPr>
        <p:blipFill>
          <a:blip r:embed="rId3"/>
          <a:stretch>
            <a:fillRect/>
          </a:stretch>
        </p:blipFill>
        <p:spPr>
          <a:xfrm>
            <a:off x="9597390" y="4231005"/>
            <a:ext cx="1447800" cy="1447800"/>
          </a:xfrm>
          <a:prstGeom prst="rect">
            <a:avLst/>
          </a:prstGeom>
        </p:spPr>
      </p:pic>
      <p:sp>
        <p:nvSpPr>
          <p:cNvPr id="12" name="文本框 11"/>
          <p:cNvSpPr txBox="1"/>
          <p:nvPr/>
        </p:nvSpPr>
        <p:spPr>
          <a:xfrm>
            <a:off x="9314815" y="5778500"/>
            <a:ext cx="1842135" cy="368300"/>
          </a:xfrm>
          <a:prstGeom prst="rect">
            <a:avLst/>
          </a:prstGeom>
          <a:noFill/>
        </p:spPr>
        <p:txBody>
          <a:bodyPr wrap="square" rtlCol="0">
            <a:spAutoFit/>
          </a:bodyPr>
          <a:p>
            <a:r>
              <a:rPr lang="zh-CN" altLang="en-US">
                <a:solidFill>
                  <a:schemeClr val="bg1"/>
                </a:solidFill>
              </a:rPr>
              <a:t>展会官方公众号</a:t>
            </a:r>
            <a:endParaRPr lang="zh-CN" altLang="en-US">
              <a:solidFill>
                <a:schemeClr val="bg1"/>
              </a:solidFill>
            </a:endParaRPr>
          </a:p>
        </p:txBody>
      </p:sp>
      <p:pic>
        <p:nvPicPr>
          <p:cNvPr id="2" name="图片 1" descr="阿联酋logo左"/>
          <p:cNvPicPr>
            <a:picLocks noChangeAspect="1"/>
          </p:cNvPicPr>
          <p:nvPr/>
        </p:nvPicPr>
        <p:blipFill>
          <a:blip r:embed="rId4"/>
          <a:stretch>
            <a:fillRect/>
          </a:stretch>
        </p:blipFill>
        <p:spPr>
          <a:xfrm>
            <a:off x="412115" y="304165"/>
            <a:ext cx="1578610" cy="7131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0795"/>
            <a:ext cx="12192000" cy="1109345"/>
          </a:xfrm>
          <a:prstGeom prst="rect">
            <a:avLst/>
          </a:prstGeom>
          <a:gradFill flip="none" rotWithShape="1">
            <a:gsLst>
              <a:gs pos="87000">
                <a:srgbClr val="7F93F8"/>
              </a:gs>
              <a:gs pos="0">
                <a:srgbClr val="2A49F4"/>
              </a:gs>
            </a:gsLst>
            <a:lin ang="0" scaled="1"/>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黑体 CN Heavy" panose="020B0A00000000000000" charset="-122"/>
              <a:ea typeface="思源黑体 CN Heavy" panose="020B0A00000000000000" charset="-122"/>
              <a:cs typeface="思源黑体 CN Heavy" panose="020B0A00000000000000" charset="-122"/>
            </a:endParaRPr>
          </a:p>
        </p:txBody>
      </p:sp>
      <p:grpSp>
        <p:nvGrpSpPr>
          <p:cNvPr id="8" name="组合 7"/>
          <p:cNvGrpSpPr/>
          <p:nvPr/>
        </p:nvGrpSpPr>
        <p:grpSpPr>
          <a:xfrm>
            <a:off x="7315200" y="0"/>
            <a:ext cx="4876800" cy="1467485"/>
            <a:chOff x="11552" y="-48"/>
            <a:chExt cx="7680" cy="2311"/>
          </a:xfrm>
        </p:grpSpPr>
        <p:sp>
          <p:nvSpPr>
            <p:cNvPr id="87" name="任意多边形: 形状 86"/>
            <p:cNvSpPr/>
            <p:nvPr/>
          </p:nvSpPr>
          <p:spPr>
            <a:xfrm flipH="1" flipV="1">
              <a:off x="11696" y="-19"/>
              <a:ext cx="7536" cy="2283"/>
            </a:xfrm>
            <a:custGeom>
              <a:avLst/>
              <a:gdLst>
                <a:gd name="connsiteX0" fmla="*/ 0 w 4785320"/>
                <a:gd name="connsiteY0" fmla="*/ 0 h 1363521"/>
                <a:gd name="connsiteX1" fmla="*/ 70355 w 4785320"/>
                <a:gd name="connsiteY1" fmla="*/ 42200 h 1363521"/>
                <a:gd name="connsiteX2" fmla="*/ 4441204 w 4785320"/>
                <a:gd name="connsiteY2" fmla="*/ 1343548 h 1363521"/>
                <a:gd name="connsiteX3" fmla="*/ 4785320 w 4785320"/>
                <a:gd name="connsiteY3" fmla="*/ 1363521 h 1363521"/>
                <a:gd name="connsiteX4" fmla="*/ 0 w 4785320"/>
                <a:gd name="connsiteY4" fmla="*/ 1363521 h 1363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320" h="1363521">
                  <a:moveTo>
                    <a:pt x="0" y="0"/>
                  </a:moveTo>
                  <a:lnTo>
                    <a:pt x="70355" y="42200"/>
                  </a:lnTo>
                  <a:cubicBezTo>
                    <a:pt x="1314233" y="752240"/>
                    <a:pt x="2812118" y="1217268"/>
                    <a:pt x="4441204" y="1343548"/>
                  </a:cubicBezTo>
                  <a:lnTo>
                    <a:pt x="4785320" y="1363521"/>
                  </a:lnTo>
                  <a:lnTo>
                    <a:pt x="0" y="1363521"/>
                  </a:lnTo>
                  <a:close/>
                </a:path>
              </a:pathLst>
            </a:custGeom>
            <a:solidFill>
              <a:srgbClr val="2A49F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Heavy" panose="020B0A00000000000000" charset="-122"/>
              </a:endParaRPr>
            </a:p>
          </p:txBody>
        </p:sp>
        <p:sp>
          <p:nvSpPr>
            <p:cNvPr id="88" name="任意多边形: 形状 87"/>
            <p:cNvSpPr/>
            <p:nvPr/>
          </p:nvSpPr>
          <p:spPr>
            <a:xfrm flipH="1" flipV="1">
              <a:off x="11552" y="-48"/>
              <a:ext cx="7680" cy="1730"/>
            </a:xfrm>
            <a:custGeom>
              <a:avLst/>
              <a:gdLst>
                <a:gd name="connsiteX0" fmla="*/ 0 w 4876800"/>
                <a:gd name="connsiteY0" fmla="*/ 0 h 959252"/>
                <a:gd name="connsiteX1" fmla="*/ 70563 w 4876800"/>
                <a:gd name="connsiteY1" fmla="*/ 29492 h 959252"/>
                <a:gd name="connsiteX2" fmla="*/ 4772686 w 4876800"/>
                <a:gd name="connsiteY2" fmla="*/ 952169 h 959252"/>
                <a:gd name="connsiteX3" fmla="*/ 4876800 w 4876800"/>
                <a:gd name="connsiteY3" fmla="*/ 953717 h 959252"/>
                <a:gd name="connsiteX4" fmla="*/ 4876800 w 4876800"/>
                <a:gd name="connsiteY4" fmla="*/ 959252 h 959252"/>
                <a:gd name="connsiteX5" fmla="*/ 0 w 4876800"/>
                <a:gd name="connsiteY5" fmla="*/ 959252 h 959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76800" h="959252">
                  <a:moveTo>
                    <a:pt x="0" y="0"/>
                  </a:moveTo>
                  <a:lnTo>
                    <a:pt x="70563" y="29492"/>
                  </a:lnTo>
                  <a:cubicBezTo>
                    <a:pt x="1425681" y="567578"/>
                    <a:pt x="3036089" y="900431"/>
                    <a:pt x="4772686" y="952169"/>
                  </a:cubicBezTo>
                  <a:lnTo>
                    <a:pt x="4876800" y="953717"/>
                  </a:lnTo>
                  <a:lnTo>
                    <a:pt x="4876800" y="959252"/>
                  </a:lnTo>
                  <a:lnTo>
                    <a:pt x="0" y="959252"/>
                  </a:lnTo>
                  <a:close/>
                </a:path>
              </a:pathLst>
            </a:custGeom>
            <a:gradFill>
              <a:gsLst>
                <a:gs pos="0">
                  <a:srgbClr val="7F93F8"/>
                </a:gs>
                <a:gs pos="100000">
                  <a:srgbClr val="2A49F4"/>
                </a:gs>
              </a:gsLst>
              <a:lin ang="27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思源黑体 CN Heavy" panose="020B0A00000000000000" charset="-122"/>
                <a:ea typeface="思源黑体 CN Heavy" panose="020B0A00000000000000" charset="-122"/>
                <a:cs typeface="思源黑体 CN Heavy" panose="020B0A00000000000000" charset="-122"/>
              </a:endParaRPr>
            </a:p>
          </p:txBody>
        </p:sp>
      </p:grpSp>
      <p:grpSp>
        <p:nvGrpSpPr>
          <p:cNvPr id="83" name="组合 82"/>
          <p:cNvGrpSpPr/>
          <p:nvPr/>
        </p:nvGrpSpPr>
        <p:grpSpPr>
          <a:xfrm>
            <a:off x="-36516" y="5437133"/>
            <a:ext cx="4879388" cy="1449532"/>
            <a:chOff x="0" y="5408469"/>
            <a:chExt cx="4879388" cy="1449532"/>
          </a:xfrm>
        </p:grpSpPr>
        <p:sp>
          <p:nvSpPr>
            <p:cNvPr id="84" name="任意多边形: 形状 83"/>
            <p:cNvSpPr/>
            <p:nvPr/>
          </p:nvSpPr>
          <p:spPr>
            <a:xfrm>
              <a:off x="0" y="5408469"/>
              <a:ext cx="4785320" cy="1449532"/>
            </a:xfrm>
            <a:custGeom>
              <a:avLst/>
              <a:gdLst>
                <a:gd name="connsiteX0" fmla="*/ 0 w 4785320"/>
                <a:gd name="connsiteY0" fmla="*/ 0 h 1363521"/>
                <a:gd name="connsiteX1" fmla="*/ 70355 w 4785320"/>
                <a:gd name="connsiteY1" fmla="*/ 42200 h 1363521"/>
                <a:gd name="connsiteX2" fmla="*/ 4441204 w 4785320"/>
                <a:gd name="connsiteY2" fmla="*/ 1343548 h 1363521"/>
                <a:gd name="connsiteX3" fmla="*/ 4785320 w 4785320"/>
                <a:gd name="connsiteY3" fmla="*/ 1363521 h 1363521"/>
                <a:gd name="connsiteX4" fmla="*/ 0 w 4785320"/>
                <a:gd name="connsiteY4" fmla="*/ 1363521 h 1363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320" h="1363521">
                  <a:moveTo>
                    <a:pt x="0" y="0"/>
                  </a:moveTo>
                  <a:lnTo>
                    <a:pt x="70355" y="42200"/>
                  </a:lnTo>
                  <a:cubicBezTo>
                    <a:pt x="1314233" y="752240"/>
                    <a:pt x="2812118" y="1217268"/>
                    <a:pt x="4441204" y="1343548"/>
                  </a:cubicBezTo>
                  <a:lnTo>
                    <a:pt x="4785320" y="1363521"/>
                  </a:lnTo>
                  <a:lnTo>
                    <a:pt x="0" y="1363521"/>
                  </a:lnTo>
                  <a:close/>
                </a:path>
              </a:pathLst>
            </a:custGeom>
            <a:solidFill>
              <a:srgbClr val="2A49F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Heavy" panose="020B0A00000000000000" charset="-122"/>
              </a:endParaRPr>
            </a:p>
          </p:txBody>
        </p:sp>
        <p:sp>
          <p:nvSpPr>
            <p:cNvPr id="85" name="任意多边形: 形状 84"/>
            <p:cNvSpPr/>
            <p:nvPr/>
          </p:nvSpPr>
          <p:spPr>
            <a:xfrm>
              <a:off x="2588" y="5759669"/>
              <a:ext cx="4876800" cy="1098331"/>
            </a:xfrm>
            <a:custGeom>
              <a:avLst/>
              <a:gdLst>
                <a:gd name="connsiteX0" fmla="*/ 0 w 4876800"/>
                <a:gd name="connsiteY0" fmla="*/ 0 h 959252"/>
                <a:gd name="connsiteX1" fmla="*/ 70563 w 4876800"/>
                <a:gd name="connsiteY1" fmla="*/ 29492 h 959252"/>
                <a:gd name="connsiteX2" fmla="*/ 4772686 w 4876800"/>
                <a:gd name="connsiteY2" fmla="*/ 952169 h 959252"/>
                <a:gd name="connsiteX3" fmla="*/ 4876800 w 4876800"/>
                <a:gd name="connsiteY3" fmla="*/ 953717 h 959252"/>
                <a:gd name="connsiteX4" fmla="*/ 4876800 w 4876800"/>
                <a:gd name="connsiteY4" fmla="*/ 959252 h 959252"/>
                <a:gd name="connsiteX5" fmla="*/ 0 w 4876800"/>
                <a:gd name="connsiteY5" fmla="*/ 959252 h 959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76800" h="959252">
                  <a:moveTo>
                    <a:pt x="0" y="0"/>
                  </a:moveTo>
                  <a:lnTo>
                    <a:pt x="70563" y="29492"/>
                  </a:lnTo>
                  <a:cubicBezTo>
                    <a:pt x="1425681" y="567578"/>
                    <a:pt x="3036089" y="900431"/>
                    <a:pt x="4772686" y="952169"/>
                  </a:cubicBezTo>
                  <a:lnTo>
                    <a:pt x="4876800" y="953717"/>
                  </a:lnTo>
                  <a:lnTo>
                    <a:pt x="4876800" y="959252"/>
                  </a:lnTo>
                  <a:lnTo>
                    <a:pt x="0" y="959252"/>
                  </a:lnTo>
                  <a:close/>
                </a:path>
              </a:pathLst>
            </a:custGeom>
            <a:gradFill>
              <a:gsLst>
                <a:gs pos="0">
                  <a:srgbClr val="7F93F8"/>
                </a:gs>
                <a:gs pos="100000">
                  <a:srgbClr val="2A49F4"/>
                </a:gs>
              </a:gsLst>
              <a:lin ang="18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思源黑体 CN Heavy" panose="020B0A00000000000000" charset="-122"/>
                <a:ea typeface="思源黑体 CN Heavy" panose="020B0A00000000000000" charset="-122"/>
                <a:cs typeface="思源黑体 CN Heavy" panose="020B0A00000000000000" charset="-122"/>
              </a:endParaRPr>
            </a:p>
          </p:txBody>
        </p:sp>
      </p:grpSp>
      <p:sp>
        <p:nvSpPr>
          <p:cNvPr id="7" name="文本框 6"/>
          <p:cNvSpPr txBox="1"/>
          <p:nvPr/>
        </p:nvSpPr>
        <p:spPr>
          <a:xfrm>
            <a:off x="1936750" y="222250"/>
            <a:ext cx="5613400" cy="659765"/>
          </a:xfrm>
          <a:prstGeom prst="rect">
            <a:avLst/>
          </a:prstGeom>
          <a:noFill/>
        </p:spPr>
        <p:txBody>
          <a:bodyPr wrap="square" rtlCol="0">
            <a:noAutofit/>
          </a:bodyPr>
          <a:p>
            <a:r>
              <a:rPr lang="zh-CN" altLang="en-US" sz="3200" b="1">
                <a:solidFill>
                  <a:schemeClr val="bg1"/>
                </a:solidFill>
              </a:rPr>
              <a:t>迪拜买家需求</a:t>
            </a:r>
            <a:endParaRPr lang="zh-CN" altLang="en-US" sz="3200" b="1">
              <a:solidFill>
                <a:schemeClr val="bg1"/>
              </a:solidFill>
            </a:endParaRPr>
          </a:p>
        </p:txBody>
      </p:sp>
      <p:graphicFrame>
        <p:nvGraphicFramePr>
          <p:cNvPr id="12" name="表格 11"/>
          <p:cNvGraphicFramePr/>
          <p:nvPr/>
        </p:nvGraphicFramePr>
        <p:xfrm>
          <a:off x="776605" y="2038985"/>
          <a:ext cx="5400675" cy="3474085"/>
        </p:xfrm>
        <a:graphic>
          <a:graphicData uri="http://schemas.openxmlformats.org/drawingml/2006/table">
            <a:tbl>
              <a:tblPr firstRow="1" bandRow="1">
                <a:tableStyleId>{2D5ABB26-0587-4C30-8999-92F81FD0307C}</a:tableStyleId>
              </a:tblPr>
              <a:tblGrid>
                <a:gridCol w="1089025"/>
                <a:gridCol w="4311650"/>
              </a:tblGrid>
              <a:tr h="370840">
                <a:tc>
                  <a:txBody>
                    <a:bodyPr/>
                    <a:p>
                      <a:pPr>
                        <a:buNone/>
                      </a:pPr>
                      <a:r>
                        <a:rPr lang="zh-CN" altLang="en-US" sz="1600">
                          <a:solidFill>
                            <a:srgbClr val="2A49F4"/>
                          </a:solidFill>
                        </a:rPr>
                        <a:t>企业</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c>
                  <a:txBody>
                    <a:bodyPr/>
                    <a:p>
                      <a:pPr>
                        <a:buNone/>
                      </a:pPr>
                      <a:r>
                        <a:rPr lang="en-US" altLang="zh-CN" sz="1600">
                          <a:solidFill>
                            <a:srgbClr val="2A49F4"/>
                          </a:solidFill>
                        </a:rPr>
                        <a:t>Damas LLC / Damas Jewellery</a:t>
                      </a:r>
                      <a:endParaRPr lang="en-US" altLang="zh-CN"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r>
              <a:tr h="371475">
                <a:tc>
                  <a:txBody>
                    <a:bodyPr/>
                    <a:p>
                      <a:pPr>
                        <a:buNone/>
                      </a:pPr>
                      <a:r>
                        <a:rPr lang="zh-CN" altLang="en-US" sz="1600">
                          <a:solidFill>
                            <a:srgbClr val="2A49F4"/>
                          </a:solidFill>
                        </a:rPr>
                        <a:t>国家</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c>
                  <a:txBody>
                    <a:bodyPr/>
                    <a:p>
                      <a:pPr>
                        <a:buNone/>
                      </a:pPr>
                      <a:r>
                        <a:rPr lang="zh-CN" altLang="en-US" sz="1600">
                          <a:solidFill>
                            <a:srgbClr val="2A49F4"/>
                          </a:solidFill>
                        </a:rPr>
                        <a:t>迪拜</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r>
              <a:tr h="370840">
                <a:tc>
                  <a:txBody>
                    <a:bodyPr/>
                    <a:p>
                      <a:pPr>
                        <a:buNone/>
                      </a:pPr>
                      <a:r>
                        <a:rPr lang="zh-CN" altLang="en-US" sz="1600">
                          <a:solidFill>
                            <a:srgbClr val="2A49F4"/>
                          </a:solidFill>
                        </a:rPr>
                        <a:t>网站</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c>
                  <a:txBody>
                    <a:bodyPr/>
                    <a:p>
                      <a:pPr>
                        <a:buNone/>
                      </a:pPr>
                      <a:r>
                        <a:rPr lang="en-US" altLang="zh-CN" sz="1600">
                          <a:solidFill>
                            <a:srgbClr val="2A49F4"/>
                          </a:solidFill>
                        </a:rPr>
                        <a:t>https://www.dewa.gov.ae/</a:t>
                      </a:r>
                      <a:endParaRPr lang="en-US" altLang="zh-CN"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r>
              <a:tr h="640715">
                <a:tc>
                  <a:txBody>
                    <a:bodyPr/>
                    <a:p>
                      <a:pPr>
                        <a:buNone/>
                      </a:pPr>
                      <a:r>
                        <a:rPr lang="zh-CN" altLang="en-US" sz="1600">
                          <a:solidFill>
                            <a:srgbClr val="2A49F4"/>
                          </a:solidFill>
                        </a:rPr>
                        <a:t>采购产品</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c>
                  <a:txBody>
                    <a:bodyPr/>
                    <a:p>
                      <a:pPr>
                        <a:buNone/>
                      </a:pPr>
                      <a:r>
                        <a:rPr lang="zh-CN" altLang="en-US" sz="1600">
                          <a:solidFill>
                            <a:srgbClr val="2A49F4"/>
                          </a:solidFill>
                        </a:rPr>
                        <a:t>高端珠宝首饰盒、项链盒、婚嫁套盒、品牌礼袋、节庆礼盒</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r>
              <a:tr h="1720215">
                <a:tc>
                  <a:txBody>
                    <a:bodyPr/>
                    <a:p>
                      <a:pPr>
                        <a:buNone/>
                      </a:pPr>
                      <a:r>
                        <a:rPr lang="zh-CN" altLang="en-US" sz="1600">
                          <a:solidFill>
                            <a:srgbClr val="2A49F4"/>
                          </a:solidFill>
                        </a:rPr>
                        <a:t>简介</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c>
                  <a:txBody>
                    <a:bodyPr/>
                    <a:p>
                      <a:pPr>
                        <a:buNone/>
                      </a:pPr>
                      <a:r>
                        <a:rPr lang="zh-CN" altLang="en-US" sz="1600">
                          <a:solidFill>
                            <a:srgbClr val="2A49F4"/>
                          </a:solidFill>
                        </a:rPr>
                        <a:t>大马士珠宝是海湾地区历史较久的珠宝零售品牌之一，长期覆盖阿联酋及海湾多国市场，主营黄金珠宝、钻石首饰、婚嫁系列与节庆礼品，在线下门店与线上渠道均有布局，具备较强区域品牌认知度与零售影响力，服务中高端消费客群，并重视节庆陈列包装体验升级较强。</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r>
            </a:tbl>
          </a:graphicData>
        </a:graphic>
      </p:graphicFrame>
      <p:sp>
        <p:nvSpPr>
          <p:cNvPr id="4" name="文本框 3"/>
          <p:cNvSpPr txBox="1"/>
          <p:nvPr/>
        </p:nvSpPr>
        <p:spPr>
          <a:xfrm>
            <a:off x="4716145" y="6104890"/>
            <a:ext cx="7168515" cy="483870"/>
          </a:xfrm>
          <a:prstGeom prst="rect">
            <a:avLst/>
          </a:prstGeom>
          <a:noFill/>
        </p:spPr>
        <p:txBody>
          <a:bodyPr wrap="square" rtlCol="0">
            <a:noAutofit/>
          </a:bodyPr>
          <a:p>
            <a:pPr indent="0">
              <a:buNone/>
            </a:pPr>
            <a:r>
              <a:rPr lang="zh-CN" altLang="en-US" b="1" i="1">
                <a:solidFill>
                  <a:srgbClr val="2A49F4"/>
                </a:solidFill>
                <a:effectLst/>
              </a:rPr>
              <a:t>该买家已入驻</a:t>
            </a:r>
            <a:r>
              <a:rPr lang="en-US" altLang="zh-CN" b="1" i="1">
                <a:solidFill>
                  <a:srgbClr val="2A49F4"/>
                </a:solidFill>
                <a:effectLst/>
              </a:rPr>
              <a:t>AI</a:t>
            </a:r>
            <a:r>
              <a:rPr lang="zh-CN" altLang="en-US" b="1" i="1">
                <a:solidFill>
                  <a:srgbClr val="2A49F4"/>
                </a:solidFill>
                <a:effectLst/>
              </a:rPr>
              <a:t>慧展，欢迎展商注册预约现场洽谈，高效对接商机。</a:t>
            </a:r>
            <a:endParaRPr lang="zh-CN" altLang="en-US" b="1" i="1">
              <a:solidFill>
                <a:srgbClr val="2A49F4"/>
              </a:solidFill>
              <a:effectLst/>
            </a:endParaRPr>
          </a:p>
        </p:txBody>
      </p:sp>
      <p:pic>
        <p:nvPicPr>
          <p:cNvPr id="2" name="图片 1" descr="阿联酋logo左"/>
          <p:cNvPicPr>
            <a:picLocks noChangeAspect="1"/>
          </p:cNvPicPr>
          <p:nvPr/>
        </p:nvPicPr>
        <p:blipFill>
          <a:blip r:embed="rId1"/>
          <a:stretch>
            <a:fillRect/>
          </a:stretch>
        </p:blipFill>
        <p:spPr>
          <a:xfrm>
            <a:off x="518160" y="195580"/>
            <a:ext cx="1578610" cy="713105"/>
          </a:xfrm>
          <a:prstGeom prst="rect">
            <a:avLst/>
          </a:prstGeom>
        </p:spPr>
      </p:pic>
      <p:pic>
        <p:nvPicPr>
          <p:cNvPr id="5" name="图片 4"/>
          <p:cNvPicPr>
            <a:picLocks noChangeAspect="1"/>
          </p:cNvPicPr>
          <p:nvPr/>
        </p:nvPicPr>
        <p:blipFill>
          <a:blip r:embed="rId2"/>
          <a:stretch>
            <a:fillRect/>
          </a:stretch>
        </p:blipFill>
        <p:spPr>
          <a:xfrm>
            <a:off x="6454775" y="1883410"/>
            <a:ext cx="5262880" cy="3629660"/>
          </a:xfrm>
          <a:prstGeom prst="rect">
            <a:avLst/>
          </a:prstGeom>
        </p:spPr>
      </p:pic>
      <p:pic>
        <p:nvPicPr>
          <p:cNvPr id="89" name="Picture 88" descr="1_damasjewellery_com_logo.png"/>
          <p:cNvPicPr>
            <a:picLocks noChangeAspect="1"/>
          </p:cNvPicPr>
          <p:nvPr/>
        </p:nvPicPr>
        <p:blipFill>
          <a:blip r:embed="rId3"/>
          <a:srcRect l="24241" t="16880" r="33108" b="45172"/>
          <a:stretch>
            <a:fillRect/>
          </a:stretch>
        </p:blipFill>
        <p:spPr>
          <a:xfrm>
            <a:off x="776605" y="1610995"/>
            <a:ext cx="1123950" cy="3568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0795"/>
            <a:ext cx="12192000" cy="1109345"/>
          </a:xfrm>
          <a:prstGeom prst="rect">
            <a:avLst/>
          </a:prstGeom>
          <a:gradFill flip="none" rotWithShape="1">
            <a:gsLst>
              <a:gs pos="87000">
                <a:srgbClr val="7F93F8"/>
              </a:gs>
              <a:gs pos="0">
                <a:srgbClr val="2A49F4"/>
              </a:gs>
            </a:gsLst>
            <a:lin ang="0" scaled="1"/>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黑体 CN Heavy" panose="020B0A00000000000000" charset="-122"/>
              <a:ea typeface="思源黑体 CN Heavy" panose="020B0A00000000000000" charset="-122"/>
              <a:cs typeface="思源黑体 CN Heavy" panose="020B0A00000000000000" charset="-122"/>
            </a:endParaRPr>
          </a:p>
        </p:txBody>
      </p:sp>
      <p:grpSp>
        <p:nvGrpSpPr>
          <p:cNvPr id="8" name="组合 7"/>
          <p:cNvGrpSpPr/>
          <p:nvPr/>
        </p:nvGrpSpPr>
        <p:grpSpPr>
          <a:xfrm>
            <a:off x="7315200" y="0"/>
            <a:ext cx="4876800" cy="1467485"/>
            <a:chOff x="11552" y="-48"/>
            <a:chExt cx="7680" cy="2311"/>
          </a:xfrm>
        </p:grpSpPr>
        <p:sp>
          <p:nvSpPr>
            <p:cNvPr id="87" name="任意多边形: 形状 86"/>
            <p:cNvSpPr/>
            <p:nvPr/>
          </p:nvSpPr>
          <p:spPr>
            <a:xfrm flipH="1" flipV="1">
              <a:off x="11696" y="-19"/>
              <a:ext cx="7536" cy="2283"/>
            </a:xfrm>
            <a:custGeom>
              <a:avLst/>
              <a:gdLst>
                <a:gd name="connsiteX0" fmla="*/ 0 w 4785320"/>
                <a:gd name="connsiteY0" fmla="*/ 0 h 1363521"/>
                <a:gd name="connsiteX1" fmla="*/ 70355 w 4785320"/>
                <a:gd name="connsiteY1" fmla="*/ 42200 h 1363521"/>
                <a:gd name="connsiteX2" fmla="*/ 4441204 w 4785320"/>
                <a:gd name="connsiteY2" fmla="*/ 1343548 h 1363521"/>
                <a:gd name="connsiteX3" fmla="*/ 4785320 w 4785320"/>
                <a:gd name="connsiteY3" fmla="*/ 1363521 h 1363521"/>
                <a:gd name="connsiteX4" fmla="*/ 0 w 4785320"/>
                <a:gd name="connsiteY4" fmla="*/ 1363521 h 1363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320" h="1363521">
                  <a:moveTo>
                    <a:pt x="0" y="0"/>
                  </a:moveTo>
                  <a:lnTo>
                    <a:pt x="70355" y="42200"/>
                  </a:lnTo>
                  <a:cubicBezTo>
                    <a:pt x="1314233" y="752240"/>
                    <a:pt x="2812118" y="1217268"/>
                    <a:pt x="4441204" y="1343548"/>
                  </a:cubicBezTo>
                  <a:lnTo>
                    <a:pt x="4785320" y="1363521"/>
                  </a:lnTo>
                  <a:lnTo>
                    <a:pt x="0" y="1363521"/>
                  </a:lnTo>
                  <a:close/>
                </a:path>
              </a:pathLst>
            </a:custGeom>
            <a:solidFill>
              <a:srgbClr val="2A49F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Heavy" panose="020B0A00000000000000" charset="-122"/>
              </a:endParaRPr>
            </a:p>
          </p:txBody>
        </p:sp>
        <p:sp>
          <p:nvSpPr>
            <p:cNvPr id="88" name="任意多边形: 形状 87"/>
            <p:cNvSpPr/>
            <p:nvPr/>
          </p:nvSpPr>
          <p:spPr>
            <a:xfrm flipH="1" flipV="1">
              <a:off x="11552" y="-48"/>
              <a:ext cx="7680" cy="1730"/>
            </a:xfrm>
            <a:custGeom>
              <a:avLst/>
              <a:gdLst>
                <a:gd name="connsiteX0" fmla="*/ 0 w 4876800"/>
                <a:gd name="connsiteY0" fmla="*/ 0 h 959252"/>
                <a:gd name="connsiteX1" fmla="*/ 70563 w 4876800"/>
                <a:gd name="connsiteY1" fmla="*/ 29492 h 959252"/>
                <a:gd name="connsiteX2" fmla="*/ 4772686 w 4876800"/>
                <a:gd name="connsiteY2" fmla="*/ 952169 h 959252"/>
                <a:gd name="connsiteX3" fmla="*/ 4876800 w 4876800"/>
                <a:gd name="connsiteY3" fmla="*/ 953717 h 959252"/>
                <a:gd name="connsiteX4" fmla="*/ 4876800 w 4876800"/>
                <a:gd name="connsiteY4" fmla="*/ 959252 h 959252"/>
                <a:gd name="connsiteX5" fmla="*/ 0 w 4876800"/>
                <a:gd name="connsiteY5" fmla="*/ 959252 h 959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76800" h="959252">
                  <a:moveTo>
                    <a:pt x="0" y="0"/>
                  </a:moveTo>
                  <a:lnTo>
                    <a:pt x="70563" y="29492"/>
                  </a:lnTo>
                  <a:cubicBezTo>
                    <a:pt x="1425681" y="567578"/>
                    <a:pt x="3036089" y="900431"/>
                    <a:pt x="4772686" y="952169"/>
                  </a:cubicBezTo>
                  <a:lnTo>
                    <a:pt x="4876800" y="953717"/>
                  </a:lnTo>
                  <a:lnTo>
                    <a:pt x="4876800" y="959252"/>
                  </a:lnTo>
                  <a:lnTo>
                    <a:pt x="0" y="959252"/>
                  </a:lnTo>
                  <a:close/>
                </a:path>
              </a:pathLst>
            </a:custGeom>
            <a:gradFill>
              <a:gsLst>
                <a:gs pos="0">
                  <a:srgbClr val="7F93F8"/>
                </a:gs>
                <a:gs pos="100000">
                  <a:srgbClr val="2A49F4"/>
                </a:gs>
              </a:gsLst>
              <a:lin ang="27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思源黑体 CN Heavy" panose="020B0A00000000000000" charset="-122"/>
                <a:ea typeface="思源黑体 CN Heavy" panose="020B0A00000000000000" charset="-122"/>
                <a:cs typeface="思源黑体 CN Heavy" panose="020B0A00000000000000" charset="-122"/>
              </a:endParaRPr>
            </a:p>
          </p:txBody>
        </p:sp>
      </p:grpSp>
      <p:grpSp>
        <p:nvGrpSpPr>
          <p:cNvPr id="83" name="组合 82"/>
          <p:cNvGrpSpPr/>
          <p:nvPr/>
        </p:nvGrpSpPr>
        <p:grpSpPr>
          <a:xfrm>
            <a:off x="-36516" y="5437133"/>
            <a:ext cx="4879388" cy="1449532"/>
            <a:chOff x="0" y="5408469"/>
            <a:chExt cx="4879388" cy="1449532"/>
          </a:xfrm>
        </p:grpSpPr>
        <p:sp>
          <p:nvSpPr>
            <p:cNvPr id="84" name="任意多边形: 形状 83"/>
            <p:cNvSpPr/>
            <p:nvPr/>
          </p:nvSpPr>
          <p:spPr>
            <a:xfrm>
              <a:off x="0" y="5408469"/>
              <a:ext cx="4785320" cy="1449532"/>
            </a:xfrm>
            <a:custGeom>
              <a:avLst/>
              <a:gdLst>
                <a:gd name="connsiteX0" fmla="*/ 0 w 4785320"/>
                <a:gd name="connsiteY0" fmla="*/ 0 h 1363521"/>
                <a:gd name="connsiteX1" fmla="*/ 70355 w 4785320"/>
                <a:gd name="connsiteY1" fmla="*/ 42200 h 1363521"/>
                <a:gd name="connsiteX2" fmla="*/ 4441204 w 4785320"/>
                <a:gd name="connsiteY2" fmla="*/ 1343548 h 1363521"/>
                <a:gd name="connsiteX3" fmla="*/ 4785320 w 4785320"/>
                <a:gd name="connsiteY3" fmla="*/ 1363521 h 1363521"/>
                <a:gd name="connsiteX4" fmla="*/ 0 w 4785320"/>
                <a:gd name="connsiteY4" fmla="*/ 1363521 h 1363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320" h="1363521">
                  <a:moveTo>
                    <a:pt x="0" y="0"/>
                  </a:moveTo>
                  <a:lnTo>
                    <a:pt x="70355" y="42200"/>
                  </a:lnTo>
                  <a:cubicBezTo>
                    <a:pt x="1314233" y="752240"/>
                    <a:pt x="2812118" y="1217268"/>
                    <a:pt x="4441204" y="1343548"/>
                  </a:cubicBezTo>
                  <a:lnTo>
                    <a:pt x="4785320" y="1363521"/>
                  </a:lnTo>
                  <a:lnTo>
                    <a:pt x="0" y="1363521"/>
                  </a:lnTo>
                  <a:close/>
                </a:path>
              </a:pathLst>
            </a:custGeom>
            <a:solidFill>
              <a:srgbClr val="2A49F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Heavy" panose="020B0A00000000000000" charset="-122"/>
              </a:endParaRPr>
            </a:p>
          </p:txBody>
        </p:sp>
        <p:sp>
          <p:nvSpPr>
            <p:cNvPr id="85" name="任意多边形: 形状 84"/>
            <p:cNvSpPr/>
            <p:nvPr/>
          </p:nvSpPr>
          <p:spPr>
            <a:xfrm>
              <a:off x="2588" y="5759669"/>
              <a:ext cx="4876800" cy="1098331"/>
            </a:xfrm>
            <a:custGeom>
              <a:avLst/>
              <a:gdLst>
                <a:gd name="connsiteX0" fmla="*/ 0 w 4876800"/>
                <a:gd name="connsiteY0" fmla="*/ 0 h 959252"/>
                <a:gd name="connsiteX1" fmla="*/ 70563 w 4876800"/>
                <a:gd name="connsiteY1" fmla="*/ 29492 h 959252"/>
                <a:gd name="connsiteX2" fmla="*/ 4772686 w 4876800"/>
                <a:gd name="connsiteY2" fmla="*/ 952169 h 959252"/>
                <a:gd name="connsiteX3" fmla="*/ 4876800 w 4876800"/>
                <a:gd name="connsiteY3" fmla="*/ 953717 h 959252"/>
                <a:gd name="connsiteX4" fmla="*/ 4876800 w 4876800"/>
                <a:gd name="connsiteY4" fmla="*/ 959252 h 959252"/>
                <a:gd name="connsiteX5" fmla="*/ 0 w 4876800"/>
                <a:gd name="connsiteY5" fmla="*/ 959252 h 959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76800" h="959252">
                  <a:moveTo>
                    <a:pt x="0" y="0"/>
                  </a:moveTo>
                  <a:lnTo>
                    <a:pt x="70563" y="29492"/>
                  </a:lnTo>
                  <a:cubicBezTo>
                    <a:pt x="1425681" y="567578"/>
                    <a:pt x="3036089" y="900431"/>
                    <a:pt x="4772686" y="952169"/>
                  </a:cubicBezTo>
                  <a:lnTo>
                    <a:pt x="4876800" y="953717"/>
                  </a:lnTo>
                  <a:lnTo>
                    <a:pt x="4876800" y="959252"/>
                  </a:lnTo>
                  <a:lnTo>
                    <a:pt x="0" y="959252"/>
                  </a:lnTo>
                  <a:close/>
                </a:path>
              </a:pathLst>
            </a:custGeom>
            <a:gradFill>
              <a:gsLst>
                <a:gs pos="0">
                  <a:srgbClr val="7F93F8"/>
                </a:gs>
                <a:gs pos="100000">
                  <a:srgbClr val="2A49F4"/>
                </a:gs>
              </a:gsLst>
              <a:lin ang="18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思源黑体 CN Heavy" panose="020B0A00000000000000" charset="-122"/>
                <a:ea typeface="思源黑体 CN Heavy" panose="020B0A00000000000000" charset="-122"/>
                <a:cs typeface="思源黑体 CN Heavy" panose="020B0A00000000000000" charset="-122"/>
              </a:endParaRPr>
            </a:p>
          </p:txBody>
        </p:sp>
      </p:grpSp>
      <p:sp>
        <p:nvSpPr>
          <p:cNvPr id="7" name="文本框 6"/>
          <p:cNvSpPr txBox="1"/>
          <p:nvPr/>
        </p:nvSpPr>
        <p:spPr>
          <a:xfrm>
            <a:off x="1936750" y="222250"/>
            <a:ext cx="5613400" cy="659765"/>
          </a:xfrm>
          <a:prstGeom prst="rect">
            <a:avLst/>
          </a:prstGeom>
          <a:noFill/>
        </p:spPr>
        <p:txBody>
          <a:bodyPr wrap="square" rtlCol="0">
            <a:noAutofit/>
          </a:bodyPr>
          <a:p>
            <a:r>
              <a:rPr lang="zh-CN" altLang="en-US" sz="3200" b="1">
                <a:solidFill>
                  <a:schemeClr val="bg1"/>
                </a:solidFill>
              </a:rPr>
              <a:t>迪拜买家需求</a:t>
            </a:r>
            <a:endParaRPr lang="zh-CN" altLang="en-US" sz="3200" b="1">
              <a:solidFill>
                <a:schemeClr val="bg1"/>
              </a:solidFill>
            </a:endParaRPr>
          </a:p>
        </p:txBody>
      </p:sp>
      <p:graphicFrame>
        <p:nvGraphicFramePr>
          <p:cNvPr id="12" name="表格 11"/>
          <p:cNvGraphicFramePr/>
          <p:nvPr/>
        </p:nvGraphicFramePr>
        <p:xfrm>
          <a:off x="776605" y="2038985"/>
          <a:ext cx="5400675" cy="3474085"/>
        </p:xfrm>
        <a:graphic>
          <a:graphicData uri="http://schemas.openxmlformats.org/drawingml/2006/table">
            <a:tbl>
              <a:tblPr firstRow="1" bandRow="1">
                <a:tableStyleId>{2D5ABB26-0587-4C30-8999-92F81FD0307C}</a:tableStyleId>
              </a:tblPr>
              <a:tblGrid>
                <a:gridCol w="1089025"/>
                <a:gridCol w="4311650"/>
              </a:tblGrid>
              <a:tr h="370840">
                <a:tc>
                  <a:txBody>
                    <a:bodyPr/>
                    <a:p>
                      <a:pPr>
                        <a:buNone/>
                      </a:pPr>
                      <a:r>
                        <a:rPr lang="zh-CN" altLang="en-US" sz="1600">
                          <a:solidFill>
                            <a:srgbClr val="2A49F4"/>
                          </a:solidFill>
                        </a:rPr>
                        <a:t>企业</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c>
                  <a:txBody>
                    <a:bodyPr/>
                    <a:p>
                      <a:pPr>
                        <a:buNone/>
                      </a:pPr>
                      <a:r>
                        <a:rPr lang="en-US" altLang="zh-CN" sz="1600">
                          <a:solidFill>
                            <a:srgbClr val="2A49F4"/>
                          </a:solidFill>
                        </a:rPr>
                        <a:t>Ahmed Seddiqi &amp; Sons</a:t>
                      </a:r>
                      <a:endParaRPr lang="en-US" altLang="zh-CN"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r>
              <a:tr h="371475">
                <a:tc>
                  <a:txBody>
                    <a:bodyPr/>
                    <a:p>
                      <a:pPr>
                        <a:buNone/>
                      </a:pPr>
                      <a:r>
                        <a:rPr lang="zh-CN" altLang="en-US" sz="1600">
                          <a:solidFill>
                            <a:srgbClr val="2A49F4"/>
                          </a:solidFill>
                        </a:rPr>
                        <a:t>国家</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c>
                  <a:txBody>
                    <a:bodyPr/>
                    <a:p>
                      <a:pPr>
                        <a:buNone/>
                      </a:pPr>
                      <a:r>
                        <a:rPr lang="zh-CN" altLang="en-US" sz="1600">
                          <a:solidFill>
                            <a:srgbClr val="2A49F4"/>
                          </a:solidFill>
                        </a:rPr>
                        <a:t>迪拜</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r>
              <a:tr h="370840">
                <a:tc>
                  <a:txBody>
                    <a:bodyPr/>
                    <a:p>
                      <a:pPr>
                        <a:buNone/>
                      </a:pPr>
                      <a:r>
                        <a:rPr lang="zh-CN" altLang="en-US" sz="1600">
                          <a:solidFill>
                            <a:srgbClr val="2A49F4"/>
                          </a:solidFill>
                        </a:rPr>
                        <a:t>网站</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c>
                  <a:txBody>
                    <a:bodyPr/>
                    <a:p>
                      <a:pPr>
                        <a:buNone/>
                      </a:pPr>
                      <a:r>
                        <a:rPr lang="en-US" altLang="zh-CN" sz="1600">
                          <a:solidFill>
                            <a:srgbClr val="2A49F4"/>
                          </a:solidFill>
                        </a:rPr>
                        <a:t>https://www.seddiqi.com/</a:t>
                      </a:r>
                      <a:endParaRPr lang="en-US" altLang="zh-CN"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r>
              <a:tr h="640715">
                <a:tc>
                  <a:txBody>
                    <a:bodyPr/>
                    <a:p>
                      <a:pPr>
                        <a:buNone/>
                      </a:pPr>
                      <a:r>
                        <a:rPr lang="zh-CN" altLang="en-US" sz="1600">
                          <a:solidFill>
                            <a:srgbClr val="2A49F4"/>
                          </a:solidFill>
                        </a:rPr>
                        <a:t>采购产品</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c>
                  <a:txBody>
                    <a:bodyPr/>
                    <a:p>
                      <a:pPr>
                        <a:buNone/>
                      </a:pPr>
                      <a:r>
                        <a:rPr lang="zh-CN" altLang="en-US" sz="1600">
                          <a:solidFill>
                            <a:srgbClr val="2A49F4"/>
                          </a:solidFill>
                        </a:rPr>
                        <a:t>漆木表盒、旅行表收纳盒、珠宝盒、皮革礼袋、品牌包装</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r>
              <a:tr h="1720215">
                <a:tc>
                  <a:txBody>
                    <a:bodyPr/>
                    <a:p>
                      <a:pPr>
                        <a:buNone/>
                      </a:pPr>
                      <a:r>
                        <a:rPr lang="zh-CN" altLang="en-US" sz="1600">
                          <a:solidFill>
                            <a:srgbClr val="2A49F4"/>
                          </a:solidFill>
                        </a:rPr>
                        <a:t>简介</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c>
                  <a:txBody>
                    <a:bodyPr/>
                    <a:p>
                      <a:pPr>
                        <a:buNone/>
                      </a:pPr>
                      <a:r>
                        <a:rPr lang="zh-CN" altLang="en-US" sz="1600">
                          <a:solidFill>
                            <a:srgbClr val="2A49F4"/>
                          </a:solidFill>
                        </a:rPr>
                        <a:t>艾哈迈德赛迪奇父子公司是阿联酋最具代表性的高端钟表零售企业之一，创立历史悠久，代理与经营众多国际奢侈腕表及珠宝品牌，在迪拜及阿联酋高端消费市场影响力突出，并持续拓展精品零售、收藏服务与客户体验业务领域发展，具备较强高净值客群服务基础与口碑。</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r>
            </a:tbl>
          </a:graphicData>
        </a:graphic>
      </p:graphicFrame>
      <p:sp>
        <p:nvSpPr>
          <p:cNvPr id="4" name="文本框 3"/>
          <p:cNvSpPr txBox="1"/>
          <p:nvPr/>
        </p:nvSpPr>
        <p:spPr>
          <a:xfrm>
            <a:off x="4716145" y="6104890"/>
            <a:ext cx="7168515" cy="483870"/>
          </a:xfrm>
          <a:prstGeom prst="rect">
            <a:avLst/>
          </a:prstGeom>
          <a:noFill/>
        </p:spPr>
        <p:txBody>
          <a:bodyPr wrap="square" rtlCol="0">
            <a:noAutofit/>
          </a:bodyPr>
          <a:p>
            <a:pPr indent="0">
              <a:buNone/>
            </a:pPr>
            <a:r>
              <a:rPr lang="zh-CN" altLang="en-US" b="1" i="1">
                <a:solidFill>
                  <a:srgbClr val="2A49F4"/>
                </a:solidFill>
                <a:effectLst/>
              </a:rPr>
              <a:t>该买家已入驻</a:t>
            </a:r>
            <a:r>
              <a:rPr lang="en-US" altLang="zh-CN" b="1" i="1">
                <a:solidFill>
                  <a:srgbClr val="2A49F4"/>
                </a:solidFill>
                <a:effectLst/>
              </a:rPr>
              <a:t>AI</a:t>
            </a:r>
            <a:r>
              <a:rPr lang="zh-CN" altLang="en-US" b="1" i="1">
                <a:solidFill>
                  <a:srgbClr val="2A49F4"/>
                </a:solidFill>
                <a:effectLst/>
              </a:rPr>
              <a:t>慧展，欢迎展商注册预约现场洽谈，高效对接商机。</a:t>
            </a:r>
            <a:endParaRPr lang="zh-CN" altLang="en-US" b="1" i="1">
              <a:solidFill>
                <a:srgbClr val="2A49F4"/>
              </a:solidFill>
              <a:effectLst/>
            </a:endParaRPr>
          </a:p>
        </p:txBody>
      </p:sp>
      <p:pic>
        <p:nvPicPr>
          <p:cNvPr id="2" name="图片 1" descr="阿联酋logo左"/>
          <p:cNvPicPr>
            <a:picLocks noChangeAspect="1"/>
          </p:cNvPicPr>
          <p:nvPr/>
        </p:nvPicPr>
        <p:blipFill>
          <a:blip r:embed="rId1"/>
          <a:stretch>
            <a:fillRect/>
          </a:stretch>
        </p:blipFill>
        <p:spPr>
          <a:xfrm>
            <a:off x="518160" y="195580"/>
            <a:ext cx="1578610" cy="713105"/>
          </a:xfrm>
          <a:prstGeom prst="rect">
            <a:avLst/>
          </a:prstGeom>
        </p:spPr>
      </p:pic>
      <p:pic>
        <p:nvPicPr>
          <p:cNvPr id="5" name="图片 4"/>
          <p:cNvPicPr>
            <a:picLocks noChangeAspect="1"/>
          </p:cNvPicPr>
          <p:nvPr/>
        </p:nvPicPr>
        <p:blipFill>
          <a:blip r:embed="rId2"/>
          <a:stretch>
            <a:fillRect/>
          </a:stretch>
        </p:blipFill>
        <p:spPr>
          <a:xfrm>
            <a:off x="776605" y="1543685"/>
            <a:ext cx="1494790" cy="400685"/>
          </a:xfrm>
          <a:prstGeom prst="rect">
            <a:avLst/>
          </a:prstGeom>
        </p:spPr>
      </p:pic>
      <p:pic>
        <p:nvPicPr>
          <p:cNvPr id="6" name="图片 5"/>
          <p:cNvPicPr>
            <a:picLocks noChangeAspect="1"/>
          </p:cNvPicPr>
          <p:nvPr/>
        </p:nvPicPr>
        <p:blipFill>
          <a:blip r:embed="rId3"/>
          <a:stretch>
            <a:fillRect/>
          </a:stretch>
        </p:blipFill>
        <p:spPr>
          <a:xfrm>
            <a:off x="6650990" y="1541780"/>
            <a:ext cx="4189730" cy="405574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0795"/>
            <a:ext cx="12192000" cy="1109345"/>
          </a:xfrm>
          <a:prstGeom prst="rect">
            <a:avLst/>
          </a:prstGeom>
          <a:gradFill flip="none" rotWithShape="1">
            <a:gsLst>
              <a:gs pos="87000">
                <a:srgbClr val="7F93F8"/>
              </a:gs>
              <a:gs pos="0">
                <a:srgbClr val="2A49F4"/>
              </a:gs>
            </a:gsLst>
            <a:lin ang="0" scaled="1"/>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黑体 CN Heavy" panose="020B0A00000000000000" charset="-122"/>
              <a:ea typeface="思源黑体 CN Heavy" panose="020B0A00000000000000" charset="-122"/>
              <a:cs typeface="思源黑体 CN Heavy" panose="020B0A00000000000000" charset="-122"/>
            </a:endParaRPr>
          </a:p>
        </p:txBody>
      </p:sp>
      <p:grpSp>
        <p:nvGrpSpPr>
          <p:cNvPr id="8" name="组合 7"/>
          <p:cNvGrpSpPr/>
          <p:nvPr/>
        </p:nvGrpSpPr>
        <p:grpSpPr>
          <a:xfrm>
            <a:off x="7315200" y="0"/>
            <a:ext cx="4876800" cy="1467485"/>
            <a:chOff x="11552" y="-48"/>
            <a:chExt cx="7680" cy="2311"/>
          </a:xfrm>
        </p:grpSpPr>
        <p:sp>
          <p:nvSpPr>
            <p:cNvPr id="87" name="任意多边形: 形状 86"/>
            <p:cNvSpPr/>
            <p:nvPr/>
          </p:nvSpPr>
          <p:spPr>
            <a:xfrm flipH="1" flipV="1">
              <a:off x="11696" y="-19"/>
              <a:ext cx="7536" cy="2283"/>
            </a:xfrm>
            <a:custGeom>
              <a:avLst/>
              <a:gdLst>
                <a:gd name="connsiteX0" fmla="*/ 0 w 4785320"/>
                <a:gd name="connsiteY0" fmla="*/ 0 h 1363521"/>
                <a:gd name="connsiteX1" fmla="*/ 70355 w 4785320"/>
                <a:gd name="connsiteY1" fmla="*/ 42200 h 1363521"/>
                <a:gd name="connsiteX2" fmla="*/ 4441204 w 4785320"/>
                <a:gd name="connsiteY2" fmla="*/ 1343548 h 1363521"/>
                <a:gd name="connsiteX3" fmla="*/ 4785320 w 4785320"/>
                <a:gd name="connsiteY3" fmla="*/ 1363521 h 1363521"/>
                <a:gd name="connsiteX4" fmla="*/ 0 w 4785320"/>
                <a:gd name="connsiteY4" fmla="*/ 1363521 h 1363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320" h="1363521">
                  <a:moveTo>
                    <a:pt x="0" y="0"/>
                  </a:moveTo>
                  <a:lnTo>
                    <a:pt x="70355" y="42200"/>
                  </a:lnTo>
                  <a:cubicBezTo>
                    <a:pt x="1314233" y="752240"/>
                    <a:pt x="2812118" y="1217268"/>
                    <a:pt x="4441204" y="1343548"/>
                  </a:cubicBezTo>
                  <a:lnTo>
                    <a:pt x="4785320" y="1363521"/>
                  </a:lnTo>
                  <a:lnTo>
                    <a:pt x="0" y="1363521"/>
                  </a:lnTo>
                  <a:close/>
                </a:path>
              </a:pathLst>
            </a:custGeom>
            <a:solidFill>
              <a:srgbClr val="2A49F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Heavy" panose="020B0A00000000000000" charset="-122"/>
              </a:endParaRPr>
            </a:p>
          </p:txBody>
        </p:sp>
        <p:sp>
          <p:nvSpPr>
            <p:cNvPr id="88" name="任意多边形: 形状 87"/>
            <p:cNvSpPr/>
            <p:nvPr/>
          </p:nvSpPr>
          <p:spPr>
            <a:xfrm flipH="1" flipV="1">
              <a:off x="11552" y="-48"/>
              <a:ext cx="7680" cy="1730"/>
            </a:xfrm>
            <a:custGeom>
              <a:avLst/>
              <a:gdLst>
                <a:gd name="connsiteX0" fmla="*/ 0 w 4876800"/>
                <a:gd name="connsiteY0" fmla="*/ 0 h 959252"/>
                <a:gd name="connsiteX1" fmla="*/ 70563 w 4876800"/>
                <a:gd name="connsiteY1" fmla="*/ 29492 h 959252"/>
                <a:gd name="connsiteX2" fmla="*/ 4772686 w 4876800"/>
                <a:gd name="connsiteY2" fmla="*/ 952169 h 959252"/>
                <a:gd name="connsiteX3" fmla="*/ 4876800 w 4876800"/>
                <a:gd name="connsiteY3" fmla="*/ 953717 h 959252"/>
                <a:gd name="connsiteX4" fmla="*/ 4876800 w 4876800"/>
                <a:gd name="connsiteY4" fmla="*/ 959252 h 959252"/>
                <a:gd name="connsiteX5" fmla="*/ 0 w 4876800"/>
                <a:gd name="connsiteY5" fmla="*/ 959252 h 959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76800" h="959252">
                  <a:moveTo>
                    <a:pt x="0" y="0"/>
                  </a:moveTo>
                  <a:lnTo>
                    <a:pt x="70563" y="29492"/>
                  </a:lnTo>
                  <a:cubicBezTo>
                    <a:pt x="1425681" y="567578"/>
                    <a:pt x="3036089" y="900431"/>
                    <a:pt x="4772686" y="952169"/>
                  </a:cubicBezTo>
                  <a:lnTo>
                    <a:pt x="4876800" y="953717"/>
                  </a:lnTo>
                  <a:lnTo>
                    <a:pt x="4876800" y="959252"/>
                  </a:lnTo>
                  <a:lnTo>
                    <a:pt x="0" y="959252"/>
                  </a:lnTo>
                  <a:close/>
                </a:path>
              </a:pathLst>
            </a:custGeom>
            <a:gradFill>
              <a:gsLst>
                <a:gs pos="0">
                  <a:srgbClr val="7F93F8"/>
                </a:gs>
                <a:gs pos="100000">
                  <a:srgbClr val="2A49F4"/>
                </a:gs>
              </a:gsLst>
              <a:lin ang="27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思源黑体 CN Heavy" panose="020B0A00000000000000" charset="-122"/>
                <a:ea typeface="思源黑体 CN Heavy" panose="020B0A00000000000000" charset="-122"/>
                <a:cs typeface="思源黑体 CN Heavy" panose="020B0A00000000000000" charset="-122"/>
              </a:endParaRPr>
            </a:p>
          </p:txBody>
        </p:sp>
      </p:grpSp>
      <p:grpSp>
        <p:nvGrpSpPr>
          <p:cNvPr id="83" name="组合 82"/>
          <p:cNvGrpSpPr/>
          <p:nvPr/>
        </p:nvGrpSpPr>
        <p:grpSpPr>
          <a:xfrm>
            <a:off x="-36516" y="5437133"/>
            <a:ext cx="4879388" cy="1449532"/>
            <a:chOff x="0" y="5408469"/>
            <a:chExt cx="4879388" cy="1449532"/>
          </a:xfrm>
        </p:grpSpPr>
        <p:sp>
          <p:nvSpPr>
            <p:cNvPr id="84" name="任意多边形: 形状 83"/>
            <p:cNvSpPr/>
            <p:nvPr/>
          </p:nvSpPr>
          <p:spPr>
            <a:xfrm>
              <a:off x="0" y="5408469"/>
              <a:ext cx="4785320" cy="1449532"/>
            </a:xfrm>
            <a:custGeom>
              <a:avLst/>
              <a:gdLst>
                <a:gd name="connsiteX0" fmla="*/ 0 w 4785320"/>
                <a:gd name="connsiteY0" fmla="*/ 0 h 1363521"/>
                <a:gd name="connsiteX1" fmla="*/ 70355 w 4785320"/>
                <a:gd name="connsiteY1" fmla="*/ 42200 h 1363521"/>
                <a:gd name="connsiteX2" fmla="*/ 4441204 w 4785320"/>
                <a:gd name="connsiteY2" fmla="*/ 1343548 h 1363521"/>
                <a:gd name="connsiteX3" fmla="*/ 4785320 w 4785320"/>
                <a:gd name="connsiteY3" fmla="*/ 1363521 h 1363521"/>
                <a:gd name="connsiteX4" fmla="*/ 0 w 4785320"/>
                <a:gd name="connsiteY4" fmla="*/ 1363521 h 1363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320" h="1363521">
                  <a:moveTo>
                    <a:pt x="0" y="0"/>
                  </a:moveTo>
                  <a:lnTo>
                    <a:pt x="70355" y="42200"/>
                  </a:lnTo>
                  <a:cubicBezTo>
                    <a:pt x="1314233" y="752240"/>
                    <a:pt x="2812118" y="1217268"/>
                    <a:pt x="4441204" y="1343548"/>
                  </a:cubicBezTo>
                  <a:lnTo>
                    <a:pt x="4785320" y="1363521"/>
                  </a:lnTo>
                  <a:lnTo>
                    <a:pt x="0" y="1363521"/>
                  </a:lnTo>
                  <a:close/>
                </a:path>
              </a:pathLst>
            </a:custGeom>
            <a:solidFill>
              <a:srgbClr val="2A49F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Heavy" panose="020B0A00000000000000" charset="-122"/>
              </a:endParaRPr>
            </a:p>
          </p:txBody>
        </p:sp>
        <p:sp>
          <p:nvSpPr>
            <p:cNvPr id="85" name="任意多边形: 形状 84"/>
            <p:cNvSpPr/>
            <p:nvPr/>
          </p:nvSpPr>
          <p:spPr>
            <a:xfrm>
              <a:off x="2588" y="5759669"/>
              <a:ext cx="4876800" cy="1098331"/>
            </a:xfrm>
            <a:custGeom>
              <a:avLst/>
              <a:gdLst>
                <a:gd name="connsiteX0" fmla="*/ 0 w 4876800"/>
                <a:gd name="connsiteY0" fmla="*/ 0 h 959252"/>
                <a:gd name="connsiteX1" fmla="*/ 70563 w 4876800"/>
                <a:gd name="connsiteY1" fmla="*/ 29492 h 959252"/>
                <a:gd name="connsiteX2" fmla="*/ 4772686 w 4876800"/>
                <a:gd name="connsiteY2" fmla="*/ 952169 h 959252"/>
                <a:gd name="connsiteX3" fmla="*/ 4876800 w 4876800"/>
                <a:gd name="connsiteY3" fmla="*/ 953717 h 959252"/>
                <a:gd name="connsiteX4" fmla="*/ 4876800 w 4876800"/>
                <a:gd name="connsiteY4" fmla="*/ 959252 h 959252"/>
                <a:gd name="connsiteX5" fmla="*/ 0 w 4876800"/>
                <a:gd name="connsiteY5" fmla="*/ 959252 h 959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76800" h="959252">
                  <a:moveTo>
                    <a:pt x="0" y="0"/>
                  </a:moveTo>
                  <a:lnTo>
                    <a:pt x="70563" y="29492"/>
                  </a:lnTo>
                  <a:cubicBezTo>
                    <a:pt x="1425681" y="567578"/>
                    <a:pt x="3036089" y="900431"/>
                    <a:pt x="4772686" y="952169"/>
                  </a:cubicBezTo>
                  <a:lnTo>
                    <a:pt x="4876800" y="953717"/>
                  </a:lnTo>
                  <a:lnTo>
                    <a:pt x="4876800" y="959252"/>
                  </a:lnTo>
                  <a:lnTo>
                    <a:pt x="0" y="959252"/>
                  </a:lnTo>
                  <a:close/>
                </a:path>
              </a:pathLst>
            </a:custGeom>
            <a:gradFill>
              <a:gsLst>
                <a:gs pos="0">
                  <a:srgbClr val="7F93F8"/>
                </a:gs>
                <a:gs pos="100000">
                  <a:srgbClr val="2A49F4"/>
                </a:gs>
              </a:gsLst>
              <a:lin ang="18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思源黑体 CN Heavy" panose="020B0A00000000000000" charset="-122"/>
                <a:ea typeface="思源黑体 CN Heavy" panose="020B0A00000000000000" charset="-122"/>
                <a:cs typeface="思源黑体 CN Heavy" panose="020B0A00000000000000" charset="-122"/>
              </a:endParaRPr>
            </a:p>
          </p:txBody>
        </p:sp>
      </p:grpSp>
      <p:sp>
        <p:nvSpPr>
          <p:cNvPr id="7" name="文本框 6"/>
          <p:cNvSpPr txBox="1"/>
          <p:nvPr/>
        </p:nvSpPr>
        <p:spPr>
          <a:xfrm>
            <a:off x="1936750" y="222250"/>
            <a:ext cx="5613400" cy="659765"/>
          </a:xfrm>
          <a:prstGeom prst="rect">
            <a:avLst/>
          </a:prstGeom>
          <a:noFill/>
        </p:spPr>
        <p:txBody>
          <a:bodyPr wrap="square" rtlCol="0">
            <a:noAutofit/>
          </a:bodyPr>
          <a:p>
            <a:r>
              <a:rPr lang="zh-CN" altLang="en-US" sz="3200" b="1">
                <a:solidFill>
                  <a:schemeClr val="bg1"/>
                </a:solidFill>
              </a:rPr>
              <a:t>迪拜买家需求</a:t>
            </a:r>
            <a:endParaRPr lang="zh-CN" altLang="en-US" sz="3200" b="1">
              <a:solidFill>
                <a:schemeClr val="bg1"/>
              </a:solidFill>
            </a:endParaRPr>
          </a:p>
        </p:txBody>
      </p:sp>
      <p:graphicFrame>
        <p:nvGraphicFramePr>
          <p:cNvPr id="12" name="表格 11"/>
          <p:cNvGraphicFramePr/>
          <p:nvPr/>
        </p:nvGraphicFramePr>
        <p:xfrm>
          <a:off x="776605" y="2038985"/>
          <a:ext cx="5400675" cy="3474085"/>
        </p:xfrm>
        <a:graphic>
          <a:graphicData uri="http://schemas.openxmlformats.org/drawingml/2006/table">
            <a:tbl>
              <a:tblPr firstRow="1" bandRow="1">
                <a:tableStyleId>{2D5ABB26-0587-4C30-8999-92F81FD0307C}</a:tableStyleId>
              </a:tblPr>
              <a:tblGrid>
                <a:gridCol w="1089025"/>
                <a:gridCol w="4311650"/>
              </a:tblGrid>
              <a:tr h="370840">
                <a:tc>
                  <a:txBody>
                    <a:bodyPr/>
                    <a:p>
                      <a:pPr>
                        <a:buNone/>
                      </a:pPr>
                      <a:r>
                        <a:rPr lang="zh-CN" altLang="en-US" sz="1600">
                          <a:solidFill>
                            <a:srgbClr val="2A49F4"/>
                          </a:solidFill>
                        </a:rPr>
                        <a:t>企业</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c>
                  <a:txBody>
                    <a:bodyPr/>
                    <a:p>
                      <a:pPr>
                        <a:buNone/>
                      </a:pPr>
                      <a:r>
                        <a:rPr lang="en-US" altLang="zh-CN" sz="1600">
                          <a:solidFill>
                            <a:srgbClr val="2A49F4"/>
                          </a:solidFill>
                        </a:rPr>
                        <a:t>Rivoli Group</a:t>
                      </a:r>
                      <a:endParaRPr lang="en-US" altLang="zh-CN"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r>
              <a:tr h="371475">
                <a:tc>
                  <a:txBody>
                    <a:bodyPr/>
                    <a:p>
                      <a:pPr>
                        <a:buNone/>
                      </a:pPr>
                      <a:r>
                        <a:rPr lang="zh-CN" altLang="en-US" sz="1600">
                          <a:solidFill>
                            <a:srgbClr val="2A49F4"/>
                          </a:solidFill>
                        </a:rPr>
                        <a:t>国家</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c>
                  <a:txBody>
                    <a:bodyPr/>
                    <a:p>
                      <a:pPr>
                        <a:buNone/>
                      </a:pPr>
                      <a:r>
                        <a:rPr lang="zh-CN" altLang="en-US" sz="1600">
                          <a:solidFill>
                            <a:srgbClr val="2A49F4"/>
                          </a:solidFill>
                        </a:rPr>
                        <a:t>迪拜</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r>
              <a:tr h="370840">
                <a:tc>
                  <a:txBody>
                    <a:bodyPr/>
                    <a:p>
                      <a:pPr>
                        <a:buNone/>
                      </a:pPr>
                      <a:r>
                        <a:rPr lang="zh-CN" altLang="en-US" sz="1600">
                          <a:solidFill>
                            <a:srgbClr val="2A49F4"/>
                          </a:solidFill>
                        </a:rPr>
                        <a:t>网站</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c>
                  <a:txBody>
                    <a:bodyPr/>
                    <a:p>
                      <a:pPr>
                        <a:buNone/>
                      </a:pPr>
                      <a:r>
                        <a:rPr lang="en-US" altLang="zh-CN" sz="1600">
                          <a:solidFill>
                            <a:srgbClr val="2A49F4"/>
                          </a:solidFill>
                        </a:rPr>
                        <a:t>https://www.rivoligroup.com/</a:t>
                      </a:r>
                      <a:endParaRPr lang="en-US" altLang="zh-CN"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r>
              <a:tr h="640715">
                <a:tc>
                  <a:txBody>
                    <a:bodyPr/>
                    <a:p>
                      <a:pPr>
                        <a:buNone/>
                      </a:pPr>
                      <a:r>
                        <a:rPr lang="zh-CN" altLang="en-US" sz="1600">
                          <a:solidFill>
                            <a:srgbClr val="2A49F4"/>
                          </a:solidFill>
                        </a:rPr>
                        <a:t>采购产品</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c>
                  <a:txBody>
                    <a:bodyPr/>
                    <a:p>
                      <a:pPr>
                        <a:buNone/>
                      </a:pPr>
                      <a:r>
                        <a:rPr lang="zh-CN" altLang="en-US" sz="1600">
                          <a:solidFill>
                            <a:srgbClr val="2A49F4"/>
                          </a:solidFill>
                        </a:rPr>
                        <a:t>精品首饰盒、腕表盒、书写工具包装盒、企业礼赠包装、展示道具</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r>
              <a:tr h="1720215">
                <a:tc>
                  <a:txBody>
                    <a:bodyPr/>
                    <a:p>
                      <a:pPr>
                        <a:buNone/>
                      </a:pPr>
                      <a:r>
                        <a:rPr lang="zh-CN" altLang="en-US" sz="1600">
                          <a:solidFill>
                            <a:srgbClr val="2A49F4"/>
                          </a:solidFill>
                        </a:rPr>
                        <a:t>简介</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c>
                  <a:txBody>
                    <a:bodyPr/>
                    <a:p>
                      <a:pPr>
                        <a:buNone/>
                      </a:pPr>
                      <a:r>
                        <a:rPr lang="zh-CN" altLang="en-US" sz="1600">
                          <a:solidFill>
                            <a:srgbClr val="2A49F4"/>
                          </a:solidFill>
                        </a:rPr>
                        <a:t>瑞沃利集团是中东知名奢侈生活方式零售集团，业务涵盖高级腕表、精品珠宝、书写工具、眼镜配饰与礼品等多个板块，代理和运营多个国际品牌，在海湾及周边市场拥有较广门店网络与成熟零售体系，面向中高端消费与礼赠需求客群，并具备跨品类运营整合优势能力强。</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r>
            </a:tbl>
          </a:graphicData>
        </a:graphic>
      </p:graphicFrame>
      <p:sp>
        <p:nvSpPr>
          <p:cNvPr id="4" name="文本框 3"/>
          <p:cNvSpPr txBox="1"/>
          <p:nvPr/>
        </p:nvSpPr>
        <p:spPr>
          <a:xfrm>
            <a:off x="4716145" y="6104890"/>
            <a:ext cx="7168515" cy="483870"/>
          </a:xfrm>
          <a:prstGeom prst="rect">
            <a:avLst/>
          </a:prstGeom>
          <a:noFill/>
        </p:spPr>
        <p:txBody>
          <a:bodyPr wrap="square" rtlCol="0">
            <a:noAutofit/>
          </a:bodyPr>
          <a:p>
            <a:pPr indent="0">
              <a:buNone/>
            </a:pPr>
            <a:r>
              <a:rPr lang="zh-CN" altLang="en-US" b="1" i="1">
                <a:solidFill>
                  <a:srgbClr val="2A49F4"/>
                </a:solidFill>
                <a:effectLst/>
              </a:rPr>
              <a:t>该买家已入驻</a:t>
            </a:r>
            <a:r>
              <a:rPr lang="en-US" altLang="zh-CN" b="1" i="1">
                <a:solidFill>
                  <a:srgbClr val="2A49F4"/>
                </a:solidFill>
                <a:effectLst/>
              </a:rPr>
              <a:t>AI</a:t>
            </a:r>
            <a:r>
              <a:rPr lang="zh-CN" altLang="en-US" b="1" i="1">
                <a:solidFill>
                  <a:srgbClr val="2A49F4"/>
                </a:solidFill>
                <a:effectLst/>
              </a:rPr>
              <a:t>慧展，欢迎展商注册预约现场洽谈，高效对接商机。</a:t>
            </a:r>
            <a:endParaRPr lang="zh-CN" altLang="en-US" b="1" i="1">
              <a:solidFill>
                <a:srgbClr val="2A49F4"/>
              </a:solidFill>
              <a:effectLst/>
            </a:endParaRPr>
          </a:p>
        </p:txBody>
      </p:sp>
      <p:pic>
        <p:nvPicPr>
          <p:cNvPr id="2" name="图片 1" descr="阿联酋logo左"/>
          <p:cNvPicPr>
            <a:picLocks noChangeAspect="1"/>
          </p:cNvPicPr>
          <p:nvPr/>
        </p:nvPicPr>
        <p:blipFill>
          <a:blip r:embed="rId1"/>
          <a:stretch>
            <a:fillRect/>
          </a:stretch>
        </p:blipFill>
        <p:spPr>
          <a:xfrm>
            <a:off x="518160" y="195580"/>
            <a:ext cx="1578610" cy="713105"/>
          </a:xfrm>
          <a:prstGeom prst="rect">
            <a:avLst/>
          </a:prstGeom>
        </p:spPr>
      </p:pic>
      <p:pic>
        <p:nvPicPr>
          <p:cNvPr id="5" name="图片 4"/>
          <p:cNvPicPr/>
          <p:nvPr/>
        </p:nvPicPr>
        <p:blipFill>
          <a:blip r:embed="rId2">
            <a:extLst>
              <a:ext uri="{96DAC541-7B7A-43D3-8B79-37D633B846F1}">
                <asvg:svgBlip xmlns:asvg="http://schemas.microsoft.com/office/drawing/2016/SVG/main" r:embed="rId3"/>
              </a:ext>
            </a:extLst>
          </a:blip>
          <a:stretch>
            <a:fillRect/>
          </a:stretch>
        </p:blipFill>
        <p:spPr>
          <a:xfrm>
            <a:off x="776605" y="1395095"/>
            <a:ext cx="457835" cy="556895"/>
          </a:xfrm>
          <a:prstGeom prst="rect">
            <a:avLst/>
          </a:prstGeom>
        </p:spPr>
      </p:pic>
      <p:pic>
        <p:nvPicPr>
          <p:cNvPr id="6" name="图片 5"/>
          <p:cNvPicPr>
            <a:picLocks noChangeAspect="1"/>
          </p:cNvPicPr>
          <p:nvPr/>
        </p:nvPicPr>
        <p:blipFill>
          <a:blip r:embed="rId4"/>
          <a:stretch>
            <a:fillRect/>
          </a:stretch>
        </p:blipFill>
        <p:spPr>
          <a:xfrm>
            <a:off x="6671945" y="1518920"/>
            <a:ext cx="4105275" cy="39941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0795"/>
            <a:ext cx="12192000" cy="1109345"/>
          </a:xfrm>
          <a:prstGeom prst="rect">
            <a:avLst/>
          </a:prstGeom>
          <a:gradFill flip="none" rotWithShape="1">
            <a:gsLst>
              <a:gs pos="87000">
                <a:srgbClr val="7F93F8"/>
              </a:gs>
              <a:gs pos="0">
                <a:srgbClr val="2A49F4"/>
              </a:gs>
            </a:gsLst>
            <a:lin ang="0" scaled="1"/>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黑体 CN Heavy" panose="020B0A00000000000000" charset="-122"/>
              <a:ea typeface="思源黑体 CN Heavy" panose="020B0A00000000000000" charset="-122"/>
              <a:cs typeface="思源黑体 CN Heavy" panose="020B0A00000000000000" charset="-122"/>
            </a:endParaRPr>
          </a:p>
        </p:txBody>
      </p:sp>
      <p:grpSp>
        <p:nvGrpSpPr>
          <p:cNvPr id="8" name="组合 7"/>
          <p:cNvGrpSpPr/>
          <p:nvPr/>
        </p:nvGrpSpPr>
        <p:grpSpPr>
          <a:xfrm>
            <a:off x="7315200" y="0"/>
            <a:ext cx="4876800" cy="1467485"/>
            <a:chOff x="11552" y="-48"/>
            <a:chExt cx="7680" cy="2311"/>
          </a:xfrm>
        </p:grpSpPr>
        <p:sp>
          <p:nvSpPr>
            <p:cNvPr id="87" name="任意多边形: 形状 86"/>
            <p:cNvSpPr/>
            <p:nvPr/>
          </p:nvSpPr>
          <p:spPr>
            <a:xfrm flipH="1" flipV="1">
              <a:off x="11696" y="-19"/>
              <a:ext cx="7536" cy="2283"/>
            </a:xfrm>
            <a:custGeom>
              <a:avLst/>
              <a:gdLst>
                <a:gd name="connsiteX0" fmla="*/ 0 w 4785320"/>
                <a:gd name="connsiteY0" fmla="*/ 0 h 1363521"/>
                <a:gd name="connsiteX1" fmla="*/ 70355 w 4785320"/>
                <a:gd name="connsiteY1" fmla="*/ 42200 h 1363521"/>
                <a:gd name="connsiteX2" fmla="*/ 4441204 w 4785320"/>
                <a:gd name="connsiteY2" fmla="*/ 1343548 h 1363521"/>
                <a:gd name="connsiteX3" fmla="*/ 4785320 w 4785320"/>
                <a:gd name="connsiteY3" fmla="*/ 1363521 h 1363521"/>
                <a:gd name="connsiteX4" fmla="*/ 0 w 4785320"/>
                <a:gd name="connsiteY4" fmla="*/ 1363521 h 1363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320" h="1363521">
                  <a:moveTo>
                    <a:pt x="0" y="0"/>
                  </a:moveTo>
                  <a:lnTo>
                    <a:pt x="70355" y="42200"/>
                  </a:lnTo>
                  <a:cubicBezTo>
                    <a:pt x="1314233" y="752240"/>
                    <a:pt x="2812118" y="1217268"/>
                    <a:pt x="4441204" y="1343548"/>
                  </a:cubicBezTo>
                  <a:lnTo>
                    <a:pt x="4785320" y="1363521"/>
                  </a:lnTo>
                  <a:lnTo>
                    <a:pt x="0" y="1363521"/>
                  </a:lnTo>
                  <a:close/>
                </a:path>
              </a:pathLst>
            </a:custGeom>
            <a:solidFill>
              <a:srgbClr val="2A49F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Heavy" panose="020B0A00000000000000" charset="-122"/>
              </a:endParaRPr>
            </a:p>
          </p:txBody>
        </p:sp>
        <p:sp>
          <p:nvSpPr>
            <p:cNvPr id="88" name="任意多边形: 形状 87"/>
            <p:cNvSpPr/>
            <p:nvPr/>
          </p:nvSpPr>
          <p:spPr>
            <a:xfrm flipH="1" flipV="1">
              <a:off x="11552" y="-48"/>
              <a:ext cx="7680" cy="1730"/>
            </a:xfrm>
            <a:custGeom>
              <a:avLst/>
              <a:gdLst>
                <a:gd name="connsiteX0" fmla="*/ 0 w 4876800"/>
                <a:gd name="connsiteY0" fmla="*/ 0 h 959252"/>
                <a:gd name="connsiteX1" fmla="*/ 70563 w 4876800"/>
                <a:gd name="connsiteY1" fmla="*/ 29492 h 959252"/>
                <a:gd name="connsiteX2" fmla="*/ 4772686 w 4876800"/>
                <a:gd name="connsiteY2" fmla="*/ 952169 h 959252"/>
                <a:gd name="connsiteX3" fmla="*/ 4876800 w 4876800"/>
                <a:gd name="connsiteY3" fmla="*/ 953717 h 959252"/>
                <a:gd name="connsiteX4" fmla="*/ 4876800 w 4876800"/>
                <a:gd name="connsiteY4" fmla="*/ 959252 h 959252"/>
                <a:gd name="connsiteX5" fmla="*/ 0 w 4876800"/>
                <a:gd name="connsiteY5" fmla="*/ 959252 h 959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76800" h="959252">
                  <a:moveTo>
                    <a:pt x="0" y="0"/>
                  </a:moveTo>
                  <a:lnTo>
                    <a:pt x="70563" y="29492"/>
                  </a:lnTo>
                  <a:cubicBezTo>
                    <a:pt x="1425681" y="567578"/>
                    <a:pt x="3036089" y="900431"/>
                    <a:pt x="4772686" y="952169"/>
                  </a:cubicBezTo>
                  <a:lnTo>
                    <a:pt x="4876800" y="953717"/>
                  </a:lnTo>
                  <a:lnTo>
                    <a:pt x="4876800" y="959252"/>
                  </a:lnTo>
                  <a:lnTo>
                    <a:pt x="0" y="959252"/>
                  </a:lnTo>
                  <a:close/>
                </a:path>
              </a:pathLst>
            </a:custGeom>
            <a:gradFill>
              <a:gsLst>
                <a:gs pos="0">
                  <a:srgbClr val="7F93F8"/>
                </a:gs>
                <a:gs pos="100000">
                  <a:srgbClr val="2A49F4"/>
                </a:gs>
              </a:gsLst>
              <a:lin ang="27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思源黑体 CN Heavy" panose="020B0A00000000000000" charset="-122"/>
                <a:ea typeface="思源黑体 CN Heavy" panose="020B0A00000000000000" charset="-122"/>
                <a:cs typeface="思源黑体 CN Heavy" panose="020B0A00000000000000" charset="-122"/>
              </a:endParaRPr>
            </a:p>
          </p:txBody>
        </p:sp>
      </p:grpSp>
      <p:grpSp>
        <p:nvGrpSpPr>
          <p:cNvPr id="83" name="组合 82"/>
          <p:cNvGrpSpPr/>
          <p:nvPr/>
        </p:nvGrpSpPr>
        <p:grpSpPr>
          <a:xfrm>
            <a:off x="-36516" y="5437133"/>
            <a:ext cx="4879388" cy="1449532"/>
            <a:chOff x="0" y="5408469"/>
            <a:chExt cx="4879388" cy="1449532"/>
          </a:xfrm>
        </p:grpSpPr>
        <p:sp>
          <p:nvSpPr>
            <p:cNvPr id="84" name="任意多边形: 形状 83"/>
            <p:cNvSpPr/>
            <p:nvPr/>
          </p:nvSpPr>
          <p:spPr>
            <a:xfrm>
              <a:off x="0" y="5408469"/>
              <a:ext cx="4785320" cy="1449532"/>
            </a:xfrm>
            <a:custGeom>
              <a:avLst/>
              <a:gdLst>
                <a:gd name="connsiteX0" fmla="*/ 0 w 4785320"/>
                <a:gd name="connsiteY0" fmla="*/ 0 h 1363521"/>
                <a:gd name="connsiteX1" fmla="*/ 70355 w 4785320"/>
                <a:gd name="connsiteY1" fmla="*/ 42200 h 1363521"/>
                <a:gd name="connsiteX2" fmla="*/ 4441204 w 4785320"/>
                <a:gd name="connsiteY2" fmla="*/ 1343548 h 1363521"/>
                <a:gd name="connsiteX3" fmla="*/ 4785320 w 4785320"/>
                <a:gd name="connsiteY3" fmla="*/ 1363521 h 1363521"/>
                <a:gd name="connsiteX4" fmla="*/ 0 w 4785320"/>
                <a:gd name="connsiteY4" fmla="*/ 1363521 h 1363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320" h="1363521">
                  <a:moveTo>
                    <a:pt x="0" y="0"/>
                  </a:moveTo>
                  <a:lnTo>
                    <a:pt x="70355" y="42200"/>
                  </a:lnTo>
                  <a:cubicBezTo>
                    <a:pt x="1314233" y="752240"/>
                    <a:pt x="2812118" y="1217268"/>
                    <a:pt x="4441204" y="1343548"/>
                  </a:cubicBezTo>
                  <a:lnTo>
                    <a:pt x="4785320" y="1363521"/>
                  </a:lnTo>
                  <a:lnTo>
                    <a:pt x="0" y="1363521"/>
                  </a:lnTo>
                  <a:close/>
                </a:path>
              </a:pathLst>
            </a:custGeom>
            <a:solidFill>
              <a:srgbClr val="2A49F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Heavy" panose="020B0A00000000000000" charset="-122"/>
              </a:endParaRPr>
            </a:p>
          </p:txBody>
        </p:sp>
        <p:sp>
          <p:nvSpPr>
            <p:cNvPr id="85" name="任意多边形: 形状 84"/>
            <p:cNvSpPr/>
            <p:nvPr/>
          </p:nvSpPr>
          <p:spPr>
            <a:xfrm>
              <a:off x="2588" y="5759669"/>
              <a:ext cx="4876800" cy="1098331"/>
            </a:xfrm>
            <a:custGeom>
              <a:avLst/>
              <a:gdLst>
                <a:gd name="connsiteX0" fmla="*/ 0 w 4876800"/>
                <a:gd name="connsiteY0" fmla="*/ 0 h 959252"/>
                <a:gd name="connsiteX1" fmla="*/ 70563 w 4876800"/>
                <a:gd name="connsiteY1" fmla="*/ 29492 h 959252"/>
                <a:gd name="connsiteX2" fmla="*/ 4772686 w 4876800"/>
                <a:gd name="connsiteY2" fmla="*/ 952169 h 959252"/>
                <a:gd name="connsiteX3" fmla="*/ 4876800 w 4876800"/>
                <a:gd name="connsiteY3" fmla="*/ 953717 h 959252"/>
                <a:gd name="connsiteX4" fmla="*/ 4876800 w 4876800"/>
                <a:gd name="connsiteY4" fmla="*/ 959252 h 959252"/>
                <a:gd name="connsiteX5" fmla="*/ 0 w 4876800"/>
                <a:gd name="connsiteY5" fmla="*/ 959252 h 959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76800" h="959252">
                  <a:moveTo>
                    <a:pt x="0" y="0"/>
                  </a:moveTo>
                  <a:lnTo>
                    <a:pt x="70563" y="29492"/>
                  </a:lnTo>
                  <a:cubicBezTo>
                    <a:pt x="1425681" y="567578"/>
                    <a:pt x="3036089" y="900431"/>
                    <a:pt x="4772686" y="952169"/>
                  </a:cubicBezTo>
                  <a:lnTo>
                    <a:pt x="4876800" y="953717"/>
                  </a:lnTo>
                  <a:lnTo>
                    <a:pt x="4876800" y="959252"/>
                  </a:lnTo>
                  <a:lnTo>
                    <a:pt x="0" y="959252"/>
                  </a:lnTo>
                  <a:close/>
                </a:path>
              </a:pathLst>
            </a:custGeom>
            <a:gradFill>
              <a:gsLst>
                <a:gs pos="0">
                  <a:srgbClr val="7F93F8"/>
                </a:gs>
                <a:gs pos="100000">
                  <a:srgbClr val="2A49F4"/>
                </a:gs>
              </a:gsLst>
              <a:lin ang="18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思源黑体 CN Heavy" panose="020B0A00000000000000" charset="-122"/>
                <a:ea typeface="思源黑体 CN Heavy" panose="020B0A00000000000000" charset="-122"/>
                <a:cs typeface="思源黑体 CN Heavy" panose="020B0A00000000000000" charset="-122"/>
              </a:endParaRPr>
            </a:p>
          </p:txBody>
        </p:sp>
      </p:grpSp>
      <p:sp>
        <p:nvSpPr>
          <p:cNvPr id="7" name="文本框 6"/>
          <p:cNvSpPr txBox="1"/>
          <p:nvPr/>
        </p:nvSpPr>
        <p:spPr>
          <a:xfrm>
            <a:off x="1936750" y="222250"/>
            <a:ext cx="5613400" cy="659765"/>
          </a:xfrm>
          <a:prstGeom prst="rect">
            <a:avLst/>
          </a:prstGeom>
          <a:noFill/>
        </p:spPr>
        <p:txBody>
          <a:bodyPr wrap="square" rtlCol="0">
            <a:noAutofit/>
          </a:bodyPr>
          <a:p>
            <a:r>
              <a:rPr lang="zh-CN" altLang="en-US" sz="3200" b="1">
                <a:solidFill>
                  <a:schemeClr val="bg1"/>
                </a:solidFill>
              </a:rPr>
              <a:t>迪拜买家需求</a:t>
            </a:r>
            <a:endParaRPr lang="zh-CN" altLang="en-US" sz="3200" b="1">
              <a:solidFill>
                <a:schemeClr val="bg1"/>
              </a:solidFill>
            </a:endParaRPr>
          </a:p>
        </p:txBody>
      </p:sp>
      <p:graphicFrame>
        <p:nvGraphicFramePr>
          <p:cNvPr id="12" name="表格 11"/>
          <p:cNvGraphicFramePr/>
          <p:nvPr/>
        </p:nvGraphicFramePr>
        <p:xfrm>
          <a:off x="776605" y="2038985"/>
          <a:ext cx="5400675" cy="3474085"/>
        </p:xfrm>
        <a:graphic>
          <a:graphicData uri="http://schemas.openxmlformats.org/drawingml/2006/table">
            <a:tbl>
              <a:tblPr firstRow="1" bandRow="1">
                <a:tableStyleId>{2D5ABB26-0587-4C30-8999-92F81FD0307C}</a:tableStyleId>
              </a:tblPr>
              <a:tblGrid>
                <a:gridCol w="1089025"/>
                <a:gridCol w="4311650"/>
              </a:tblGrid>
              <a:tr h="370840">
                <a:tc>
                  <a:txBody>
                    <a:bodyPr/>
                    <a:p>
                      <a:pPr>
                        <a:buNone/>
                      </a:pPr>
                      <a:r>
                        <a:rPr lang="zh-CN" altLang="en-US" sz="1600">
                          <a:solidFill>
                            <a:srgbClr val="2A49F4"/>
                          </a:solidFill>
                        </a:rPr>
                        <a:t>企业</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c>
                  <a:txBody>
                    <a:bodyPr/>
                    <a:p>
                      <a:pPr>
                        <a:buNone/>
                      </a:pPr>
                      <a:r>
                        <a:rPr lang="en-US" altLang="zh-CN" sz="1600">
                          <a:solidFill>
                            <a:srgbClr val="2A49F4"/>
                          </a:solidFill>
                        </a:rPr>
                        <a:t>L’azurde</a:t>
                      </a:r>
                      <a:endParaRPr lang="en-US" altLang="zh-CN"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r>
              <a:tr h="371475">
                <a:tc>
                  <a:txBody>
                    <a:bodyPr/>
                    <a:p>
                      <a:pPr>
                        <a:buNone/>
                      </a:pPr>
                      <a:r>
                        <a:rPr lang="zh-CN" altLang="en-US" sz="1600">
                          <a:solidFill>
                            <a:srgbClr val="2A49F4"/>
                          </a:solidFill>
                        </a:rPr>
                        <a:t>国家</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c>
                  <a:txBody>
                    <a:bodyPr/>
                    <a:p>
                      <a:pPr>
                        <a:buNone/>
                      </a:pPr>
                      <a:r>
                        <a:rPr lang="zh-CN" altLang="en-US" sz="1600">
                          <a:solidFill>
                            <a:srgbClr val="2A49F4"/>
                          </a:solidFill>
                        </a:rPr>
                        <a:t>迪拜</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r>
              <a:tr h="370840">
                <a:tc>
                  <a:txBody>
                    <a:bodyPr/>
                    <a:p>
                      <a:pPr>
                        <a:buNone/>
                      </a:pPr>
                      <a:r>
                        <a:rPr lang="zh-CN" altLang="en-US" sz="1600">
                          <a:solidFill>
                            <a:srgbClr val="2A49F4"/>
                          </a:solidFill>
                        </a:rPr>
                        <a:t>网站</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c>
                  <a:txBody>
                    <a:bodyPr/>
                    <a:p>
                      <a:pPr>
                        <a:buNone/>
                      </a:pPr>
                      <a:r>
                        <a:rPr lang="en-US" altLang="zh-CN" sz="1600">
                          <a:solidFill>
                            <a:srgbClr val="2A49F4"/>
                          </a:solidFill>
                        </a:rPr>
                        <a:t>https://www.lazurde.com/</a:t>
                      </a:r>
                      <a:endParaRPr lang="en-US" altLang="zh-CN"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r>
              <a:tr h="640715">
                <a:tc>
                  <a:txBody>
                    <a:bodyPr/>
                    <a:p>
                      <a:pPr>
                        <a:buNone/>
                      </a:pPr>
                      <a:r>
                        <a:rPr lang="zh-CN" altLang="en-US" sz="1600">
                          <a:solidFill>
                            <a:srgbClr val="2A49F4"/>
                          </a:solidFill>
                        </a:rPr>
                        <a:t>采购产品</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c>
                  <a:txBody>
                    <a:bodyPr/>
                    <a:p>
                      <a:pPr>
                        <a:buNone/>
                      </a:pPr>
                      <a:r>
                        <a:rPr lang="zh-CN" altLang="en-US" sz="1600">
                          <a:solidFill>
                            <a:srgbClr val="2A49F4"/>
                          </a:solidFill>
                        </a:rPr>
                        <a:t>黄金首饰套盒、钻戒盒、婚嫁珠宝展示盒、套装盒、品牌礼袋</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r>
              <a:tr h="1720215">
                <a:tc>
                  <a:txBody>
                    <a:bodyPr/>
                    <a:p>
                      <a:pPr>
                        <a:buNone/>
                      </a:pPr>
                      <a:r>
                        <a:rPr lang="zh-CN" altLang="en-US" sz="1600">
                          <a:solidFill>
                            <a:srgbClr val="2A49F4"/>
                          </a:solidFill>
                        </a:rPr>
                        <a:t>简介</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c>
                  <a:txBody>
                    <a:bodyPr/>
                    <a:p>
                      <a:pPr>
                        <a:buNone/>
                      </a:pPr>
                      <a:r>
                        <a:rPr lang="zh-CN" altLang="en-US" sz="1600">
                          <a:solidFill>
                            <a:srgbClr val="2A49F4"/>
                          </a:solidFill>
                        </a:rPr>
                        <a:t>拉祖尔德是中东地区具有代表性的珠宝品牌之一，专注黄金珠宝、钻石饰品、婚嫁系列与时尚首饰设计销售，并布局多品牌运营与区域零售网络，在沙特及周边阿拉伯市场拥有较高知名度，兼具设计研发、品牌推广与终端零售综合能力优势，市场覆盖与品牌辨识度较强高。</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r>
            </a:tbl>
          </a:graphicData>
        </a:graphic>
      </p:graphicFrame>
      <p:sp>
        <p:nvSpPr>
          <p:cNvPr id="4" name="文本框 3"/>
          <p:cNvSpPr txBox="1"/>
          <p:nvPr/>
        </p:nvSpPr>
        <p:spPr>
          <a:xfrm>
            <a:off x="4716145" y="6104890"/>
            <a:ext cx="7168515" cy="483870"/>
          </a:xfrm>
          <a:prstGeom prst="rect">
            <a:avLst/>
          </a:prstGeom>
          <a:noFill/>
        </p:spPr>
        <p:txBody>
          <a:bodyPr wrap="square" rtlCol="0">
            <a:noAutofit/>
          </a:bodyPr>
          <a:p>
            <a:pPr indent="0">
              <a:buNone/>
            </a:pPr>
            <a:r>
              <a:rPr lang="zh-CN" altLang="en-US" b="1" i="1">
                <a:solidFill>
                  <a:srgbClr val="2A49F4"/>
                </a:solidFill>
                <a:effectLst/>
              </a:rPr>
              <a:t>该买家已入驻</a:t>
            </a:r>
            <a:r>
              <a:rPr lang="en-US" altLang="zh-CN" b="1" i="1">
                <a:solidFill>
                  <a:srgbClr val="2A49F4"/>
                </a:solidFill>
                <a:effectLst/>
              </a:rPr>
              <a:t>AI</a:t>
            </a:r>
            <a:r>
              <a:rPr lang="zh-CN" altLang="en-US" b="1" i="1">
                <a:solidFill>
                  <a:srgbClr val="2A49F4"/>
                </a:solidFill>
                <a:effectLst/>
              </a:rPr>
              <a:t>慧展，欢迎展商注册预约现场洽谈，高效对接商机。</a:t>
            </a:r>
            <a:endParaRPr lang="zh-CN" altLang="en-US" b="1" i="1">
              <a:solidFill>
                <a:srgbClr val="2A49F4"/>
              </a:solidFill>
              <a:effectLst/>
            </a:endParaRPr>
          </a:p>
        </p:txBody>
      </p:sp>
      <p:pic>
        <p:nvPicPr>
          <p:cNvPr id="2" name="图片 1" descr="阿联酋logo左"/>
          <p:cNvPicPr>
            <a:picLocks noChangeAspect="1"/>
          </p:cNvPicPr>
          <p:nvPr/>
        </p:nvPicPr>
        <p:blipFill>
          <a:blip r:embed="rId1"/>
          <a:stretch>
            <a:fillRect/>
          </a:stretch>
        </p:blipFill>
        <p:spPr>
          <a:xfrm>
            <a:off x="518160" y="195580"/>
            <a:ext cx="1578610" cy="713105"/>
          </a:xfrm>
          <a:prstGeom prst="rect">
            <a:avLst/>
          </a:prstGeom>
        </p:spPr>
      </p:pic>
      <p:pic>
        <p:nvPicPr>
          <p:cNvPr id="5" name="图片 4"/>
          <p:cNvPicPr/>
          <p:nvPr/>
        </p:nvPicPr>
        <p:blipFill>
          <a:blip r:embed="rId2">
            <a:extLst>
              <a:ext uri="{96DAC541-7B7A-43D3-8B79-37D633B846F1}">
                <asvg:svgBlip xmlns:asvg="http://schemas.microsoft.com/office/drawing/2016/SVG/main" r:embed="rId3"/>
              </a:ext>
            </a:extLst>
          </a:blip>
          <a:stretch>
            <a:fillRect/>
          </a:stretch>
        </p:blipFill>
        <p:spPr>
          <a:xfrm>
            <a:off x="776605" y="1723708"/>
            <a:ext cx="1447800" cy="200025"/>
          </a:xfrm>
          <a:prstGeom prst="rect">
            <a:avLst/>
          </a:prstGeom>
        </p:spPr>
      </p:pic>
      <p:pic>
        <p:nvPicPr>
          <p:cNvPr id="6" name="图片 5"/>
          <p:cNvPicPr/>
          <p:nvPr/>
        </p:nvPicPr>
        <p:blipFill>
          <a:blip r:embed="rId4"/>
          <a:stretch>
            <a:fillRect/>
          </a:stretch>
        </p:blipFill>
        <p:spPr>
          <a:xfrm>
            <a:off x="6680835" y="1499235"/>
            <a:ext cx="4013835" cy="40138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0795"/>
            <a:ext cx="12192000" cy="1109345"/>
          </a:xfrm>
          <a:prstGeom prst="rect">
            <a:avLst/>
          </a:prstGeom>
          <a:gradFill flip="none" rotWithShape="1">
            <a:gsLst>
              <a:gs pos="87000">
                <a:srgbClr val="7F93F8"/>
              </a:gs>
              <a:gs pos="0">
                <a:srgbClr val="2A49F4"/>
              </a:gs>
            </a:gsLst>
            <a:lin ang="0" scaled="1"/>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黑体 CN Heavy" panose="020B0A00000000000000" charset="-122"/>
              <a:ea typeface="思源黑体 CN Heavy" panose="020B0A00000000000000" charset="-122"/>
              <a:cs typeface="思源黑体 CN Heavy" panose="020B0A00000000000000" charset="-122"/>
            </a:endParaRPr>
          </a:p>
        </p:txBody>
      </p:sp>
      <p:grpSp>
        <p:nvGrpSpPr>
          <p:cNvPr id="8" name="组合 7"/>
          <p:cNvGrpSpPr/>
          <p:nvPr/>
        </p:nvGrpSpPr>
        <p:grpSpPr>
          <a:xfrm>
            <a:off x="7315200" y="0"/>
            <a:ext cx="4876800" cy="1467485"/>
            <a:chOff x="11552" y="-48"/>
            <a:chExt cx="7680" cy="2311"/>
          </a:xfrm>
        </p:grpSpPr>
        <p:sp>
          <p:nvSpPr>
            <p:cNvPr id="87" name="任意多边形: 形状 86"/>
            <p:cNvSpPr/>
            <p:nvPr/>
          </p:nvSpPr>
          <p:spPr>
            <a:xfrm flipH="1" flipV="1">
              <a:off x="11696" y="-19"/>
              <a:ext cx="7536" cy="2283"/>
            </a:xfrm>
            <a:custGeom>
              <a:avLst/>
              <a:gdLst>
                <a:gd name="connsiteX0" fmla="*/ 0 w 4785320"/>
                <a:gd name="connsiteY0" fmla="*/ 0 h 1363521"/>
                <a:gd name="connsiteX1" fmla="*/ 70355 w 4785320"/>
                <a:gd name="connsiteY1" fmla="*/ 42200 h 1363521"/>
                <a:gd name="connsiteX2" fmla="*/ 4441204 w 4785320"/>
                <a:gd name="connsiteY2" fmla="*/ 1343548 h 1363521"/>
                <a:gd name="connsiteX3" fmla="*/ 4785320 w 4785320"/>
                <a:gd name="connsiteY3" fmla="*/ 1363521 h 1363521"/>
                <a:gd name="connsiteX4" fmla="*/ 0 w 4785320"/>
                <a:gd name="connsiteY4" fmla="*/ 1363521 h 1363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320" h="1363521">
                  <a:moveTo>
                    <a:pt x="0" y="0"/>
                  </a:moveTo>
                  <a:lnTo>
                    <a:pt x="70355" y="42200"/>
                  </a:lnTo>
                  <a:cubicBezTo>
                    <a:pt x="1314233" y="752240"/>
                    <a:pt x="2812118" y="1217268"/>
                    <a:pt x="4441204" y="1343548"/>
                  </a:cubicBezTo>
                  <a:lnTo>
                    <a:pt x="4785320" y="1363521"/>
                  </a:lnTo>
                  <a:lnTo>
                    <a:pt x="0" y="1363521"/>
                  </a:lnTo>
                  <a:close/>
                </a:path>
              </a:pathLst>
            </a:custGeom>
            <a:solidFill>
              <a:srgbClr val="2A49F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Heavy" panose="020B0A00000000000000" charset="-122"/>
              </a:endParaRPr>
            </a:p>
          </p:txBody>
        </p:sp>
        <p:sp>
          <p:nvSpPr>
            <p:cNvPr id="88" name="任意多边形: 形状 87"/>
            <p:cNvSpPr/>
            <p:nvPr/>
          </p:nvSpPr>
          <p:spPr>
            <a:xfrm flipH="1" flipV="1">
              <a:off x="11552" y="-48"/>
              <a:ext cx="7680" cy="1730"/>
            </a:xfrm>
            <a:custGeom>
              <a:avLst/>
              <a:gdLst>
                <a:gd name="connsiteX0" fmla="*/ 0 w 4876800"/>
                <a:gd name="connsiteY0" fmla="*/ 0 h 959252"/>
                <a:gd name="connsiteX1" fmla="*/ 70563 w 4876800"/>
                <a:gd name="connsiteY1" fmla="*/ 29492 h 959252"/>
                <a:gd name="connsiteX2" fmla="*/ 4772686 w 4876800"/>
                <a:gd name="connsiteY2" fmla="*/ 952169 h 959252"/>
                <a:gd name="connsiteX3" fmla="*/ 4876800 w 4876800"/>
                <a:gd name="connsiteY3" fmla="*/ 953717 h 959252"/>
                <a:gd name="connsiteX4" fmla="*/ 4876800 w 4876800"/>
                <a:gd name="connsiteY4" fmla="*/ 959252 h 959252"/>
                <a:gd name="connsiteX5" fmla="*/ 0 w 4876800"/>
                <a:gd name="connsiteY5" fmla="*/ 959252 h 959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76800" h="959252">
                  <a:moveTo>
                    <a:pt x="0" y="0"/>
                  </a:moveTo>
                  <a:lnTo>
                    <a:pt x="70563" y="29492"/>
                  </a:lnTo>
                  <a:cubicBezTo>
                    <a:pt x="1425681" y="567578"/>
                    <a:pt x="3036089" y="900431"/>
                    <a:pt x="4772686" y="952169"/>
                  </a:cubicBezTo>
                  <a:lnTo>
                    <a:pt x="4876800" y="953717"/>
                  </a:lnTo>
                  <a:lnTo>
                    <a:pt x="4876800" y="959252"/>
                  </a:lnTo>
                  <a:lnTo>
                    <a:pt x="0" y="959252"/>
                  </a:lnTo>
                  <a:close/>
                </a:path>
              </a:pathLst>
            </a:custGeom>
            <a:gradFill>
              <a:gsLst>
                <a:gs pos="0">
                  <a:srgbClr val="7F93F8"/>
                </a:gs>
                <a:gs pos="100000">
                  <a:srgbClr val="2A49F4"/>
                </a:gs>
              </a:gsLst>
              <a:lin ang="27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思源黑体 CN Heavy" panose="020B0A00000000000000" charset="-122"/>
                <a:ea typeface="思源黑体 CN Heavy" panose="020B0A00000000000000" charset="-122"/>
                <a:cs typeface="思源黑体 CN Heavy" panose="020B0A00000000000000" charset="-122"/>
              </a:endParaRPr>
            </a:p>
          </p:txBody>
        </p:sp>
      </p:grpSp>
      <p:grpSp>
        <p:nvGrpSpPr>
          <p:cNvPr id="83" name="组合 82"/>
          <p:cNvGrpSpPr/>
          <p:nvPr/>
        </p:nvGrpSpPr>
        <p:grpSpPr>
          <a:xfrm>
            <a:off x="-36516" y="5437133"/>
            <a:ext cx="4879388" cy="1449532"/>
            <a:chOff x="0" y="5408469"/>
            <a:chExt cx="4879388" cy="1449532"/>
          </a:xfrm>
        </p:grpSpPr>
        <p:sp>
          <p:nvSpPr>
            <p:cNvPr id="84" name="任意多边形: 形状 83"/>
            <p:cNvSpPr/>
            <p:nvPr/>
          </p:nvSpPr>
          <p:spPr>
            <a:xfrm>
              <a:off x="0" y="5408469"/>
              <a:ext cx="4785320" cy="1449532"/>
            </a:xfrm>
            <a:custGeom>
              <a:avLst/>
              <a:gdLst>
                <a:gd name="connsiteX0" fmla="*/ 0 w 4785320"/>
                <a:gd name="connsiteY0" fmla="*/ 0 h 1363521"/>
                <a:gd name="connsiteX1" fmla="*/ 70355 w 4785320"/>
                <a:gd name="connsiteY1" fmla="*/ 42200 h 1363521"/>
                <a:gd name="connsiteX2" fmla="*/ 4441204 w 4785320"/>
                <a:gd name="connsiteY2" fmla="*/ 1343548 h 1363521"/>
                <a:gd name="connsiteX3" fmla="*/ 4785320 w 4785320"/>
                <a:gd name="connsiteY3" fmla="*/ 1363521 h 1363521"/>
                <a:gd name="connsiteX4" fmla="*/ 0 w 4785320"/>
                <a:gd name="connsiteY4" fmla="*/ 1363521 h 1363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320" h="1363521">
                  <a:moveTo>
                    <a:pt x="0" y="0"/>
                  </a:moveTo>
                  <a:lnTo>
                    <a:pt x="70355" y="42200"/>
                  </a:lnTo>
                  <a:cubicBezTo>
                    <a:pt x="1314233" y="752240"/>
                    <a:pt x="2812118" y="1217268"/>
                    <a:pt x="4441204" y="1343548"/>
                  </a:cubicBezTo>
                  <a:lnTo>
                    <a:pt x="4785320" y="1363521"/>
                  </a:lnTo>
                  <a:lnTo>
                    <a:pt x="0" y="1363521"/>
                  </a:lnTo>
                  <a:close/>
                </a:path>
              </a:pathLst>
            </a:custGeom>
            <a:solidFill>
              <a:srgbClr val="2A49F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Heavy" panose="020B0A00000000000000" charset="-122"/>
              </a:endParaRPr>
            </a:p>
          </p:txBody>
        </p:sp>
        <p:sp>
          <p:nvSpPr>
            <p:cNvPr id="85" name="任意多边形: 形状 84"/>
            <p:cNvSpPr/>
            <p:nvPr/>
          </p:nvSpPr>
          <p:spPr>
            <a:xfrm>
              <a:off x="2588" y="5759669"/>
              <a:ext cx="4876800" cy="1098331"/>
            </a:xfrm>
            <a:custGeom>
              <a:avLst/>
              <a:gdLst>
                <a:gd name="connsiteX0" fmla="*/ 0 w 4876800"/>
                <a:gd name="connsiteY0" fmla="*/ 0 h 959252"/>
                <a:gd name="connsiteX1" fmla="*/ 70563 w 4876800"/>
                <a:gd name="connsiteY1" fmla="*/ 29492 h 959252"/>
                <a:gd name="connsiteX2" fmla="*/ 4772686 w 4876800"/>
                <a:gd name="connsiteY2" fmla="*/ 952169 h 959252"/>
                <a:gd name="connsiteX3" fmla="*/ 4876800 w 4876800"/>
                <a:gd name="connsiteY3" fmla="*/ 953717 h 959252"/>
                <a:gd name="connsiteX4" fmla="*/ 4876800 w 4876800"/>
                <a:gd name="connsiteY4" fmla="*/ 959252 h 959252"/>
                <a:gd name="connsiteX5" fmla="*/ 0 w 4876800"/>
                <a:gd name="connsiteY5" fmla="*/ 959252 h 959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76800" h="959252">
                  <a:moveTo>
                    <a:pt x="0" y="0"/>
                  </a:moveTo>
                  <a:lnTo>
                    <a:pt x="70563" y="29492"/>
                  </a:lnTo>
                  <a:cubicBezTo>
                    <a:pt x="1425681" y="567578"/>
                    <a:pt x="3036089" y="900431"/>
                    <a:pt x="4772686" y="952169"/>
                  </a:cubicBezTo>
                  <a:lnTo>
                    <a:pt x="4876800" y="953717"/>
                  </a:lnTo>
                  <a:lnTo>
                    <a:pt x="4876800" y="959252"/>
                  </a:lnTo>
                  <a:lnTo>
                    <a:pt x="0" y="959252"/>
                  </a:lnTo>
                  <a:close/>
                </a:path>
              </a:pathLst>
            </a:custGeom>
            <a:gradFill>
              <a:gsLst>
                <a:gs pos="0">
                  <a:srgbClr val="7F93F8"/>
                </a:gs>
                <a:gs pos="100000">
                  <a:srgbClr val="2A49F4"/>
                </a:gs>
              </a:gsLst>
              <a:lin ang="18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思源黑体 CN Heavy" panose="020B0A00000000000000" charset="-122"/>
                <a:ea typeface="思源黑体 CN Heavy" panose="020B0A00000000000000" charset="-122"/>
                <a:cs typeface="思源黑体 CN Heavy" panose="020B0A00000000000000" charset="-122"/>
              </a:endParaRPr>
            </a:p>
          </p:txBody>
        </p:sp>
      </p:grpSp>
      <p:sp>
        <p:nvSpPr>
          <p:cNvPr id="7" name="文本框 6"/>
          <p:cNvSpPr txBox="1"/>
          <p:nvPr/>
        </p:nvSpPr>
        <p:spPr>
          <a:xfrm>
            <a:off x="1936750" y="222250"/>
            <a:ext cx="5613400" cy="659765"/>
          </a:xfrm>
          <a:prstGeom prst="rect">
            <a:avLst/>
          </a:prstGeom>
          <a:noFill/>
        </p:spPr>
        <p:txBody>
          <a:bodyPr wrap="square" rtlCol="0">
            <a:noAutofit/>
          </a:bodyPr>
          <a:p>
            <a:r>
              <a:rPr lang="zh-CN" altLang="en-US" sz="3200" b="1">
                <a:solidFill>
                  <a:schemeClr val="bg1"/>
                </a:solidFill>
              </a:rPr>
              <a:t>迪拜买家需求</a:t>
            </a:r>
            <a:endParaRPr lang="zh-CN" altLang="en-US" sz="3200" b="1">
              <a:solidFill>
                <a:schemeClr val="bg1"/>
              </a:solidFill>
            </a:endParaRPr>
          </a:p>
        </p:txBody>
      </p:sp>
      <p:graphicFrame>
        <p:nvGraphicFramePr>
          <p:cNvPr id="12" name="表格 11"/>
          <p:cNvGraphicFramePr/>
          <p:nvPr/>
        </p:nvGraphicFramePr>
        <p:xfrm>
          <a:off x="776605" y="2038985"/>
          <a:ext cx="5400675" cy="3474085"/>
        </p:xfrm>
        <a:graphic>
          <a:graphicData uri="http://schemas.openxmlformats.org/drawingml/2006/table">
            <a:tbl>
              <a:tblPr firstRow="1" bandRow="1">
                <a:tableStyleId>{2D5ABB26-0587-4C30-8999-92F81FD0307C}</a:tableStyleId>
              </a:tblPr>
              <a:tblGrid>
                <a:gridCol w="1089025"/>
                <a:gridCol w="4311650"/>
              </a:tblGrid>
              <a:tr h="370840">
                <a:tc>
                  <a:txBody>
                    <a:bodyPr/>
                    <a:p>
                      <a:pPr>
                        <a:buNone/>
                      </a:pPr>
                      <a:r>
                        <a:rPr lang="zh-CN" altLang="en-US" sz="1600">
                          <a:solidFill>
                            <a:srgbClr val="2A49F4"/>
                          </a:solidFill>
                        </a:rPr>
                        <a:t>企业</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c>
                  <a:txBody>
                    <a:bodyPr/>
                    <a:p>
                      <a:pPr>
                        <a:buNone/>
                      </a:pPr>
                      <a:r>
                        <a:rPr lang="en-US" altLang="zh-CN" sz="1600">
                          <a:solidFill>
                            <a:srgbClr val="2A49F4"/>
                          </a:solidFill>
                        </a:rPr>
                        <a:t>Mouawad</a:t>
                      </a:r>
                      <a:endParaRPr lang="en-US" altLang="zh-CN"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r>
              <a:tr h="371475">
                <a:tc>
                  <a:txBody>
                    <a:bodyPr/>
                    <a:p>
                      <a:pPr>
                        <a:buNone/>
                      </a:pPr>
                      <a:r>
                        <a:rPr lang="zh-CN" altLang="en-US" sz="1600">
                          <a:solidFill>
                            <a:srgbClr val="2A49F4"/>
                          </a:solidFill>
                        </a:rPr>
                        <a:t>国家</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c>
                  <a:txBody>
                    <a:bodyPr/>
                    <a:p>
                      <a:pPr>
                        <a:buNone/>
                      </a:pPr>
                      <a:r>
                        <a:rPr lang="zh-CN" altLang="en-US" sz="1600">
                          <a:solidFill>
                            <a:srgbClr val="2A49F4"/>
                          </a:solidFill>
                        </a:rPr>
                        <a:t>迪拜</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r>
              <a:tr h="370840">
                <a:tc>
                  <a:txBody>
                    <a:bodyPr/>
                    <a:p>
                      <a:pPr>
                        <a:buNone/>
                      </a:pPr>
                      <a:r>
                        <a:rPr lang="zh-CN" altLang="en-US" sz="1600">
                          <a:solidFill>
                            <a:srgbClr val="2A49F4"/>
                          </a:solidFill>
                        </a:rPr>
                        <a:t>网站</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c>
                  <a:txBody>
                    <a:bodyPr/>
                    <a:p>
                      <a:pPr>
                        <a:buNone/>
                      </a:pPr>
                      <a:r>
                        <a:rPr lang="en-US" altLang="zh-CN" sz="1600">
                          <a:solidFill>
                            <a:srgbClr val="2A49F4"/>
                          </a:solidFill>
                        </a:rPr>
                        <a:t>https://www.mouawad.com/</a:t>
                      </a:r>
                      <a:endParaRPr lang="en-US" altLang="zh-CN"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r>
              <a:tr h="640715">
                <a:tc>
                  <a:txBody>
                    <a:bodyPr/>
                    <a:p>
                      <a:pPr>
                        <a:buNone/>
                      </a:pPr>
                      <a:r>
                        <a:rPr lang="zh-CN" altLang="en-US" sz="1600">
                          <a:solidFill>
                            <a:srgbClr val="2A49F4"/>
                          </a:solidFill>
                        </a:rPr>
                        <a:t>采购产品</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c>
                  <a:txBody>
                    <a:bodyPr/>
                    <a:p>
                      <a:pPr>
                        <a:buNone/>
                      </a:pPr>
                      <a:r>
                        <a:rPr lang="zh-CN" altLang="en-US" sz="1600">
                          <a:solidFill>
                            <a:srgbClr val="2A49F4"/>
                          </a:solidFill>
                        </a:rPr>
                        <a:t>高端定制珠宝盒、</a:t>
                      </a:r>
                      <a:r>
                        <a:rPr lang="en-US" altLang="zh-CN" sz="1600">
                          <a:solidFill>
                            <a:srgbClr val="2A49F4"/>
                          </a:solidFill>
                        </a:rPr>
                        <a:t>LED</a:t>
                      </a:r>
                      <a:r>
                        <a:rPr lang="zh-CN" altLang="en-US" sz="1600">
                          <a:solidFill>
                            <a:srgbClr val="2A49F4"/>
                          </a:solidFill>
                        </a:rPr>
                        <a:t>展示盒、丝绒内衬盒、订婚戒盒、腕表包装</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r>
              <a:tr h="1720215">
                <a:tc>
                  <a:txBody>
                    <a:bodyPr/>
                    <a:p>
                      <a:pPr>
                        <a:buNone/>
                      </a:pPr>
                      <a:r>
                        <a:rPr lang="zh-CN" altLang="en-US" sz="1600">
                          <a:solidFill>
                            <a:srgbClr val="2A49F4"/>
                          </a:solidFill>
                        </a:rPr>
                        <a:t>简介</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c>
                  <a:txBody>
                    <a:bodyPr/>
                    <a:p>
                      <a:pPr>
                        <a:buNone/>
                      </a:pPr>
                      <a:r>
                        <a:rPr lang="zh-CN" altLang="en-US" sz="1600">
                          <a:solidFill>
                            <a:srgbClr val="2A49F4"/>
                          </a:solidFill>
                        </a:rPr>
                        <a:t>穆阿瓦德是历史悠久的高级珠宝与腕表品牌，起源于十九世纪末，长期服务全球高净值客户，主营高级珠宝、订婚婚嫁系列、珍贵钻石、定制作品与奢华腕表，品牌以家族传承、稀有宝石资源和高端定制能力著称，在国际高珠领域影响力突出，并深受收藏及礼赠市场关注。</a:t>
                      </a:r>
                      <a:endParaRPr lang="zh-CN" altLang="en-US" sz="1600">
                        <a:solidFill>
                          <a:srgbClr val="2A49F4"/>
                        </a:solidFill>
                      </a:endParaRPr>
                    </a:p>
                  </a:txBody>
                  <a:tcPr>
                    <a:lnL w="3175">
                      <a:solidFill>
                        <a:srgbClr val="7F93F8"/>
                      </a:solidFill>
                      <a:prstDash val="solid"/>
                    </a:lnL>
                    <a:lnR w="3175">
                      <a:solidFill>
                        <a:srgbClr val="7F93F8"/>
                      </a:solidFill>
                      <a:prstDash val="solid"/>
                    </a:lnR>
                    <a:lnT w="3175">
                      <a:solidFill>
                        <a:srgbClr val="7F93F8"/>
                      </a:solidFill>
                      <a:prstDash val="solid"/>
                    </a:lnT>
                    <a:lnB w="3175">
                      <a:solidFill>
                        <a:srgbClr val="7F93F8"/>
                      </a:solidFill>
                      <a:prstDash val="solid"/>
                    </a:lnB>
                    <a:lnTlToBr>
                      <a:noFill/>
                    </a:lnTlToBr>
                    <a:lnBlToTr>
                      <a:noFill/>
                    </a:lnBlToTr>
                  </a:tcPr>
                </a:tc>
              </a:tr>
            </a:tbl>
          </a:graphicData>
        </a:graphic>
      </p:graphicFrame>
      <p:sp>
        <p:nvSpPr>
          <p:cNvPr id="4" name="文本框 3"/>
          <p:cNvSpPr txBox="1"/>
          <p:nvPr/>
        </p:nvSpPr>
        <p:spPr>
          <a:xfrm>
            <a:off x="4716145" y="6104890"/>
            <a:ext cx="7168515" cy="483870"/>
          </a:xfrm>
          <a:prstGeom prst="rect">
            <a:avLst/>
          </a:prstGeom>
          <a:noFill/>
        </p:spPr>
        <p:txBody>
          <a:bodyPr wrap="square" rtlCol="0">
            <a:noAutofit/>
          </a:bodyPr>
          <a:p>
            <a:pPr indent="0">
              <a:buNone/>
            </a:pPr>
            <a:r>
              <a:rPr lang="zh-CN" altLang="en-US" b="1" i="1">
                <a:solidFill>
                  <a:srgbClr val="2A49F4"/>
                </a:solidFill>
                <a:effectLst/>
              </a:rPr>
              <a:t>该买家已入驻</a:t>
            </a:r>
            <a:r>
              <a:rPr lang="en-US" altLang="zh-CN" b="1" i="1">
                <a:solidFill>
                  <a:srgbClr val="2A49F4"/>
                </a:solidFill>
                <a:effectLst/>
              </a:rPr>
              <a:t>AI</a:t>
            </a:r>
            <a:r>
              <a:rPr lang="zh-CN" altLang="en-US" b="1" i="1">
                <a:solidFill>
                  <a:srgbClr val="2A49F4"/>
                </a:solidFill>
                <a:effectLst/>
              </a:rPr>
              <a:t>慧展，欢迎展商注册预约现场洽谈，高效对接商机。</a:t>
            </a:r>
            <a:endParaRPr lang="zh-CN" altLang="en-US" b="1" i="1">
              <a:solidFill>
                <a:srgbClr val="2A49F4"/>
              </a:solidFill>
              <a:effectLst/>
            </a:endParaRPr>
          </a:p>
        </p:txBody>
      </p:sp>
      <p:pic>
        <p:nvPicPr>
          <p:cNvPr id="2" name="图片 1" descr="阿联酋logo左"/>
          <p:cNvPicPr>
            <a:picLocks noChangeAspect="1"/>
          </p:cNvPicPr>
          <p:nvPr/>
        </p:nvPicPr>
        <p:blipFill>
          <a:blip r:embed="rId1"/>
          <a:stretch>
            <a:fillRect/>
          </a:stretch>
        </p:blipFill>
        <p:spPr>
          <a:xfrm>
            <a:off x="518160" y="195580"/>
            <a:ext cx="1578610" cy="713105"/>
          </a:xfrm>
          <a:prstGeom prst="rect">
            <a:avLst/>
          </a:prstGeom>
        </p:spPr>
      </p:pic>
      <p:pic>
        <p:nvPicPr>
          <p:cNvPr id="6" name="图片 5"/>
          <p:cNvPicPr>
            <a:picLocks noChangeAspect="1"/>
          </p:cNvPicPr>
          <p:nvPr/>
        </p:nvPicPr>
        <p:blipFill>
          <a:blip r:embed="rId2"/>
          <a:stretch>
            <a:fillRect/>
          </a:stretch>
        </p:blipFill>
        <p:spPr>
          <a:xfrm>
            <a:off x="776605" y="1596390"/>
            <a:ext cx="1810385" cy="370840"/>
          </a:xfrm>
          <a:prstGeom prst="rect">
            <a:avLst/>
          </a:prstGeom>
        </p:spPr>
      </p:pic>
      <p:pic>
        <p:nvPicPr>
          <p:cNvPr id="9" name="图片 8"/>
          <p:cNvPicPr>
            <a:picLocks noChangeAspect="1"/>
          </p:cNvPicPr>
          <p:nvPr/>
        </p:nvPicPr>
        <p:blipFill>
          <a:blip r:embed="rId3"/>
          <a:stretch>
            <a:fillRect/>
          </a:stretch>
        </p:blipFill>
        <p:spPr>
          <a:xfrm>
            <a:off x="6468745" y="1543685"/>
            <a:ext cx="4778375" cy="4010025"/>
          </a:xfrm>
          <a:prstGeom prst="rect">
            <a:avLst/>
          </a:prstGeom>
        </p:spPr>
      </p:pic>
    </p:spTree>
  </p:cSld>
  <p:clrMapOvr>
    <a:masterClrMapping/>
  </p:clrMapOvr>
</p:sld>
</file>

<file path=ppt/tags/tag1.xml><?xml version="1.0" encoding="utf-8"?>
<p:tagLst xmlns:p="http://schemas.openxmlformats.org/presentationml/2006/main">
  <p:tag name="resource_record_key" val="{&quot;29&quot;:[50000159]}"/>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F32E7">
            <a:alpha val="54000"/>
          </a:srgbClr>
        </a:solidFill>
        <a:ln w="12700" cap="flat" cmpd="sng" algn="ctr">
          <a:noFill/>
          <a:prstDash val="solid"/>
          <a:miter lim="800000"/>
        </a:ln>
      </a:spPr>
      <a:bodyPr rtlCol="0" anchor="ctr"/>
      <a:lstStyle>
        <a:defPPr marL="0" marR="0" lvl="0" indent="0" algn="ctr" defTabSz="914400" rtl="0" eaLnBrk="1" fontAlgn="auto" latinLnBrk="0" hangingPunct="1">
          <a:lnSpc>
            <a:spcPct val="100000"/>
          </a:lnSpc>
          <a:spcBef>
            <a:spcPts val="0"/>
          </a:spcBef>
          <a:spcAft>
            <a:spcPts val="0"/>
          </a:spcAft>
          <a:buClrTx/>
          <a:buSzTx/>
          <a:buFontTx/>
          <a:buNone/>
          <a:defRPr lang="zh-CN" altLang="en-US"/>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1213</Words>
  <Application>WPS 演示</Application>
  <PresentationFormat>宽屏</PresentationFormat>
  <Paragraphs>126</Paragraphs>
  <Slides>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vt:i4>
      </vt:variant>
    </vt:vector>
  </HeadingPairs>
  <TitlesOfParts>
    <vt:vector size="15" baseType="lpstr">
      <vt:lpstr>Arial</vt:lpstr>
      <vt:lpstr>宋体</vt:lpstr>
      <vt:lpstr>Wingdings</vt:lpstr>
      <vt:lpstr>微软雅黑</vt:lpstr>
      <vt:lpstr>思源黑体 CN Light</vt:lpstr>
      <vt:lpstr>思源黑体 CN Heavy</vt:lpstr>
      <vt:lpstr>Arial Unicode MS</vt:lpstr>
      <vt:lpstr>黑体</vt:lpstr>
      <vt:lpstr>WPS</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哈奇Hatch</cp:lastModifiedBy>
  <cp:revision>84</cp:revision>
  <dcterms:created xsi:type="dcterms:W3CDTF">2023-08-09T12:44:00Z</dcterms:created>
  <dcterms:modified xsi:type="dcterms:W3CDTF">2026-06-16T05:55:15Z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2052-12.1.0.26884</vt:lpwstr>
  </property>
  <property fmtid="{D5CDD505-2E9C-101B-9397-08002B2CF9AE}" pid="3" name="ICV">
    <vt:lpwstr>F9F765A81B034FF9BA95C87F11D0192C_13</vt:lpwstr>
  </property>
</Properties>
</file>