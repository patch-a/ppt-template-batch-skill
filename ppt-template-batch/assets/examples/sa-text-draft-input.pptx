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4" r:id="rId3"/>
    <p:sldId id="285" r:id="rId4"/>
    <p:sldId id="333" r:id="rId5"/>
    <p:sldId id="334" r:id="rId6"/>
    <p:sldId id="335" r:id="rId7"/>
    <p:sldId id="336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uSina" initials="A" lastIdx="0" clrIdx="0"/>
  <p:cmAuthor id="2" name="作者" initials="A" lastIdx="0" clrIdx="1"/>
  <p:cmAuthor id="3" name="Author" initials="A" lastIdx="0" clrIdx="2"/>
  <p:cmAuthor id="4" name="Mia Vida Villanueva" initials="MVV" lastIdx="0" clrIdx="3"/>
  <p:cmAuthor id="5" name="Chris French" initials="C" lastIdx="0" clrIdx="4"/>
  <p:cmAuthor id="6" name="Raman Sharma" initials="R" lastIdx="0" clrIdx="5"/>
  <p:cmAuthor id="7" name="lenovo" initials="l" lastIdx="0" clrIdx="6"/>
  <p:cmAuthor id="8" name="Administrator" initials="A" lastIdx="0" clrIdx="7"/>
  <p:cmAuthor id="9" name="宋洁然" initials="宋" lastIdx="0" clrIdx="8"/>
  <p:cmAuthor id="10" name="ming qiu" initials="m" lastIdx="0" clrIdx="9"/>
  <p:cmAuthor id="11" name="Bernice Zhong" initials="B" lastIdx="0" clrIdx="10"/>
  <p:cmAuthor id="12" name="Duane Forrester" initials="D" lastIdx="0" clrIdx="11"/>
  <p:cmAuthor id="13" name="Jimmy Lin" initials="J" lastIdx="0" clrIdx="12"/>
  <p:cmAuthor id="14" name="Shelby Gagnon" initials="S" lastIdx="0" clrIdx="13"/>
  <p:cmAuthor id="15" name="Stuart Olson (Allyis Inc)" initials="S" lastIdx="0" clrIdx="14"/>
  <p:cmAuthor id="16" name="Windows User" initials="W" lastIdx="0" clrIdx="15"/>
  <p:cmAuthor id="17" name="John Neitzel" initials="J" lastIdx="0" clrIdx="16"/>
  <p:cmAuthor id="18" name="David Delmar (Allyis Inc)" initials="D" lastIdx="0" clrIdx="17"/>
  <p:cmAuthor id="19" name="Sylvia Tedjo" initials="S" lastIdx="0" clrIdx="18"/>
  <p:cmAuthor id="20" name="Jill White" initials="J" lastIdx="0" clrIdx="19"/>
  <p:cmAuthor id="21" name="yxy" initials="y" lastIdx="0" clrIdx="2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32E7"/>
    <a:srgbClr val="788DF8"/>
    <a:srgbClr val="2A49F4"/>
    <a:srgbClr val="7F93F8"/>
    <a:srgbClr val="0B428C"/>
    <a:srgbClr val="FFF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ommentAuthors" Target="commentAuthors.xml"/><Relationship Id="rId15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+mj-ea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jpeg"/><Relationship Id="rId5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首页配图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-25400" y="0"/>
            <a:ext cx="12217400" cy="6858635"/>
          </a:xfrm>
          <a:prstGeom prst="rect">
            <a:avLst/>
          </a:prstGeom>
          <a:solidFill>
            <a:srgbClr val="0F32E7">
              <a:alpha val="58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5" name="平行四边形 44"/>
          <p:cNvSpPr/>
          <p:nvPr/>
        </p:nvSpPr>
        <p:spPr>
          <a:xfrm>
            <a:off x="9051654" y="-1"/>
            <a:ext cx="3165157" cy="6857999"/>
          </a:xfrm>
          <a:prstGeom prst="parallelogram">
            <a:avLst>
              <a:gd name="adj" fmla="val 41336"/>
            </a:avLst>
          </a:prstGeom>
          <a:solidFill>
            <a:srgbClr val="0F32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Light" panose="020B03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2115" y="2205355"/>
            <a:ext cx="73386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软雅黑"/>
              </a:rPr>
              <a:t>2026南非新能源买家</a:t>
            </a:r>
            <a:endParaRPr lang="zh-CN" altLang="en-US" sz="5400" b="1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12115" y="3278505"/>
            <a:ext cx="3580130" cy="939800"/>
          </a:xfrm>
          <a:prstGeom prst="roundRect">
            <a:avLst/>
          </a:prstGeom>
          <a:solidFill>
            <a:srgbClr val="0F32E7">
              <a:alpha val="54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9140" y="3429000"/>
            <a:ext cx="282829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国家：南非</a:t>
            </a:r>
            <a:endParaRPr lang="zh-CN" altLang="en-US" sz="3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 descr="公司logo-米奥兰特20250714-1450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3070" y="506730"/>
            <a:ext cx="2225040" cy="329565"/>
          </a:xfrm>
          <a:prstGeom prst="rect">
            <a:avLst/>
          </a:prstGeom>
        </p:spPr>
      </p:pic>
      <p:pic>
        <p:nvPicPr>
          <p:cNvPr id="11" name="图片 10" descr="qrcode_for_gh_6c104907dbac_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390" y="4231005"/>
            <a:ext cx="1447800" cy="14478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314815" y="5778500"/>
            <a:ext cx="1842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展会官方公众号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15" y="304165"/>
            <a:ext cx="1578610" cy="713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Scatec Solar Africa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www.scatec.com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光伏组件、太阳能逆变器、支架系统、储能电池、变压器、电气设备、监控系统、电缆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挪威上市太阳能开发商 Scatec ASA 在南非的运营机构，是非洲领先的太阳能项目开发商之一，深度参与南非可再生能源独立发电商采购计划，在当地运营多个大型光伏电站，并持续布局储能及综合新能源项目，行业影响力和项目执行能力较强，具备较成熟国际项目管理经验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775" y="1883410"/>
            <a:ext cx="5262880" cy="3629660"/>
          </a:xfrm>
          <a:prstGeom prst="rect">
            <a:avLst/>
          </a:prstGeom>
        </p:spPr>
      </p:pic>
      <p:pic>
        <p:nvPicPr>
          <p:cNvPr id="89" name="Picture 88" descr="1_damasjewellery_com_logo.png"/>
          <p:cNvPicPr>
            <a:picLocks noChangeAspect="1"/>
          </p:cNvPicPr>
          <p:nvPr/>
        </p:nvPicPr>
        <p:blipFill>
          <a:blip r:embed="rId3"/>
          <a:srcRect l="24241" t="16880" r="33108" b="45172"/>
          <a:stretch>
            <a:fillRect/>
          </a:stretch>
        </p:blipFill>
        <p:spPr>
          <a:xfrm>
            <a:off x="776605" y="1610995"/>
            <a:ext cx="1123950" cy="356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Red Rocket South Africa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www.redrocketsa.co.za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光伏组件、逆变器、支架系统、变压器、电缆、光伏电站运维设备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Red Rocket South Africa 是南非本土领先的可再生能源独立发电商，总部位于开普敦，长期专注太阳能光伏与风电项目开发，参与多个大型光伏项目建设，在南非可再生能源市场拥有较强项目储备、开发能力和本地化执行经验，市场地位突出，并持续扩大清洁能源投资规模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05" y="1543685"/>
            <a:ext cx="1494790" cy="4006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990" y="1541780"/>
            <a:ext cx="4189730" cy="4055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ENGIE South Africa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www.engie.co.za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光伏组件、太阳能逆变器、储能系统、变压器、电气设备、微电网设备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ENGIE South Africa 是法国能源巨头 ENGIE 集团在南非的重要运营机构，依托集团全球能源投资、建设与运维能力，持续布局南非太阳能光伏、分布式能源、储能及绿色氢能等业务，在当地可再生能源市场具备较强综合竞争力和品牌影响力，同时拥有成熟国际能源项目协同能力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605" y="1395095"/>
            <a:ext cx="457835" cy="5568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45" y="1518920"/>
            <a:ext cx="4105275" cy="3994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Mulilo Energy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www.mulilo.com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光伏组件、逆变器、储能电池系统（BESS）、变压器、支架系统、电缆电气设备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Mulilo Energy 是南非本土可再生能源独立发电商，专注太阳能、风能与储能项目开发，在南非市场深耕超过十五年，参与多个 REIPPPP 项目及 Eskom 储能相关项目，具备较强项目开发、资源整合与本地化实施能力，行业经验较为成熟，并在新能源转型领域具有持续扩张潜力。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605" y="1723708"/>
            <a:ext cx="1447800" cy="20002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6680835" y="1499235"/>
            <a:ext cx="4013835" cy="4013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0795"/>
            <a:ext cx="12192000" cy="1109345"/>
          </a:xfrm>
          <a:prstGeom prst="rect">
            <a:avLst/>
          </a:prstGeom>
          <a:gradFill flip="none" rotWithShape="1">
            <a:gsLst>
              <a:gs pos="87000">
                <a:srgbClr val="7F93F8"/>
              </a:gs>
              <a:gs pos="0">
                <a:srgbClr val="2A49F4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315200" y="0"/>
            <a:ext cx="4876800" cy="1467485"/>
            <a:chOff x="11552" y="-48"/>
            <a:chExt cx="7680" cy="2311"/>
          </a:xfrm>
        </p:grpSpPr>
        <p:sp>
          <p:nvSpPr>
            <p:cNvPr id="87" name="任意多边形: 形状 86"/>
            <p:cNvSpPr/>
            <p:nvPr/>
          </p:nvSpPr>
          <p:spPr>
            <a:xfrm flipH="1" flipV="1">
              <a:off x="11696" y="-19"/>
              <a:ext cx="7536" cy="2283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8" name="任意多边形: 形状 87"/>
            <p:cNvSpPr/>
            <p:nvPr/>
          </p:nvSpPr>
          <p:spPr>
            <a:xfrm flipH="1" flipV="1">
              <a:off x="11552" y="-48"/>
              <a:ext cx="7680" cy="1730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27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-36516" y="5437133"/>
            <a:ext cx="4879388" cy="1449532"/>
            <a:chOff x="0" y="5408469"/>
            <a:chExt cx="4879388" cy="1449532"/>
          </a:xfrm>
        </p:grpSpPr>
        <p:sp>
          <p:nvSpPr>
            <p:cNvPr id="84" name="任意多边形: 形状 83"/>
            <p:cNvSpPr/>
            <p:nvPr/>
          </p:nvSpPr>
          <p:spPr>
            <a:xfrm>
              <a:off x="0" y="5408469"/>
              <a:ext cx="4785320" cy="1449532"/>
            </a:xfrm>
            <a:custGeom>
              <a:avLst/>
              <a:gdLst>
                <a:gd name="connsiteX0" fmla="*/ 0 w 4785320"/>
                <a:gd name="connsiteY0" fmla="*/ 0 h 1363521"/>
                <a:gd name="connsiteX1" fmla="*/ 70355 w 4785320"/>
                <a:gd name="connsiteY1" fmla="*/ 42200 h 1363521"/>
                <a:gd name="connsiteX2" fmla="*/ 4441204 w 4785320"/>
                <a:gd name="connsiteY2" fmla="*/ 1343548 h 1363521"/>
                <a:gd name="connsiteX3" fmla="*/ 4785320 w 4785320"/>
                <a:gd name="connsiteY3" fmla="*/ 1363521 h 1363521"/>
                <a:gd name="connsiteX4" fmla="*/ 0 w 4785320"/>
                <a:gd name="connsiteY4" fmla="*/ 1363521 h 136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85320" h="1363521">
                  <a:moveTo>
                    <a:pt x="0" y="0"/>
                  </a:moveTo>
                  <a:lnTo>
                    <a:pt x="70355" y="42200"/>
                  </a:lnTo>
                  <a:cubicBezTo>
                    <a:pt x="1314233" y="752240"/>
                    <a:pt x="2812118" y="1217268"/>
                    <a:pt x="4441204" y="1343548"/>
                  </a:cubicBezTo>
                  <a:lnTo>
                    <a:pt x="4785320" y="1363521"/>
                  </a:lnTo>
                  <a:lnTo>
                    <a:pt x="0" y="1363521"/>
                  </a:lnTo>
                  <a:close/>
                </a:path>
              </a:pathLst>
            </a:custGeom>
            <a:solidFill>
              <a:srgbClr val="2A49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88" y="5759669"/>
              <a:ext cx="4876800" cy="1098331"/>
            </a:xfrm>
            <a:custGeom>
              <a:avLst/>
              <a:gdLst>
                <a:gd name="connsiteX0" fmla="*/ 0 w 4876800"/>
                <a:gd name="connsiteY0" fmla="*/ 0 h 959252"/>
                <a:gd name="connsiteX1" fmla="*/ 70563 w 4876800"/>
                <a:gd name="connsiteY1" fmla="*/ 29492 h 959252"/>
                <a:gd name="connsiteX2" fmla="*/ 4772686 w 4876800"/>
                <a:gd name="connsiteY2" fmla="*/ 952169 h 959252"/>
                <a:gd name="connsiteX3" fmla="*/ 4876800 w 4876800"/>
                <a:gd name="connsiteY3" fmla="*/ 953717 h 959252"/>
                <a:gd name="connsiteX4" fmla="*/ 4876800 w 4876800"/>
                <a:gd name="connsiteY4" fmla="*/ 959252 h 959252"/>
                <a:gd name="connsiteX5" fmla="*/ 0 w 4876800"/>
                <a:gd name="connsiteY5" fmla="*/ 959252 h 95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76800" h="959252">
                  <a:moveTo>
                    <a:pt x="0" y="0"/>
                  </a:moveTo>
                  <a:lnTo>
                    <a:pt x="70563" y="29492"/>
                  </a:lnTo>
                  <a:cubicBezTo>
                    <a:pt x="1425681" y="567578"/>
                    <a:pt x="3036089" y="900431"/>
                    <a:pt x="4772686" y="952169"/>
                  </a:cubicBezTo>
                  <a:lnTo>
                    <a:pt x="4876800" y="953717"/>
                  </a:lnTo>
                  <a:lnTo>
                    <a:pt x="4876800" y="959252"/>
                  </a:lnTo>
                  <a:lnTo>
                    <a:pt x="0" y="959252"/>
                  </a:lnTo>
                  <a:close/>
                </a:path>
              </a:pathLst>
            </a:custGeom>
            <a:gradFill>
              <a:gsLst>
                <a:gs pos="0">
                  <a:srgbClr val="7F93F8"/>
                </a:gs>
                <a:gs pos="100000">
                  <a:srgbClr val="2A49F4"/>
                </a:gs>
              </a:gsLst>
              <a:lin ang="1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936750" y="222250"/>
            <a:ext cx="561340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南非买家需求</a:t>
            </a:r>
            <a:endParaRPr lang="zh-CN" altLang="en-US" sz="3200" b="1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76605" y="2038985"/>
          <a:ext cx="5400675" cy="347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4311650"/>
              </a:tblGrid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企业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Hive Hydrogen South Africa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147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国家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南非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70840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网站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www.hivehydrogen.co.za</a:t>
                      </a:r>
                      <a:endParaRPr lang="en-US" altLang="zh-CN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7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采购产品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光伏组件、风力发电机、电解槽设备、储氢设备、氨合成设备、变压器、电气控制系统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720215"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简介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 wrap="square" anchor="t"/>
                    <a:p>
                      <a:pPr algn="l">
                        <a:buNone/>
                      </a:pPr>
                      <a:r>
                        <a:rPr sz="1600">
                          <a:solidFill>
                            <a:srgbClr val="2A49F4"/>
                          </a:solidFill>
                          <a:latin typeface="微软雅黑"/>
                        </a:rPr>
                        <a:t>Hive Hydrogen South Africa 是南非绿色氢能与绿色氨项目开发商，依托 Hive Energy 和 Built Africa Group 资源，在东开普省推进超大型绿色氨项目建设，配套风电、光伏及氢氨系统，项目投资规模大、出口导向明确，具备较强国际化示范意义，并在南非能源转型中具有战略代表性。</a:t>
                      </a:r>
                      <a:endParaRPr lang="zh-CN" altLang="en-US" sz="1600">
                        <a:solidFill>
                          <a:srgbClr val="2A49F4"/>
                        </a:solidFill>
                      </a:endParaRPr>
                    </a:p>
                  </a:txBody>
                  <a:tcPr>
                    <a:lnL w="3175">
                      <a:solidFill>
                        <a:srgbClr val="7F93F8"/>
                      </a:solidFill>
                      <a:prstDash val="solid"/>
                    </a:lnL>
                    <a:lnR w="3175">
                      <a:solidFill>
                        <a:srgbClr val="7F93F8"/>
                      </a:solidFill>
                      <a:prstDash val="solid"/>
                    </a:lnR>
                    <a:lnT w="3175">
                      <a:solidFill>
                        <a:srgbClr val="7F93F8"/>
                      </a:solidFill>
                      <a:prstDash val="solid"/>
                    </a:lnT>
                    <a:lnB w="3175">
                      <a:solidFill>
                        <a:srgbClr val="7F93F8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16145" y="6104890"/>
            <a:ext cx="71685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 b="1" i="1">
                <a:solidFill>
                  <a:srgbClr val="2A49F4"/>
                </a:solidFill>
                <a:effectLst/>
              </a:rPr>
              <a:t>该买家已入驻</a:t>
            </a:r>
            <a:r>
              <a:rPr lang="en-US" altLang="zh-CN" b="1" i="1">
                <a:solidFill>
                  <a:srgbClr val="2A49F4"/>
                </a:solidFill>
                <a:effectLst/>
              </a:rPr>
              <a:t>AI</a:t>
            </a:r>
            <a:r>
              <a:rPr lang="zh-CN" altLang="en-US" b="1" i="1">
                <a:solidFill>
                  <a:srgbClr val="2A49F4"/>
                </a:solidFill>
                <a:effectLst/>
              </a:rPr>
              <a:t>慧展，欢迎展商注册预约现场洽谈，高效对接商机。</a:t>
            </a:r>
            <a:endParaRPr lang="zh-CN" altLang="en-US" b="1" i="1">
              <a:solidFill>
                <a:srgbClr val="2A49F4"/>
              </a:solidFill>
              <a:effectLst/>
            </a:endParaRPr>
          </a:p>
        </p:txBody>
      </p:sp>
      <p:pic>
        <p:nvPicPr>
          <p:cNvPr id="2" name="图片 1" descr="阿联酋logo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195580"/>
            <a:ext cx="1578610" cy="7131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05" y="1596390"/>
            <a:ext cx="1810385" cy="3708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745" y="1543685"/>
            <a:ext cx="4778375" cy="40100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0015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F32E7">
            <a:alpha val="54000"/>
          </a:srgbClr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marL="0" marR="0" lvl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WPS 演示</Application>
  <PresentationFormat>宽屏</PresentationFormat>
  <Paragraphs>126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思源黑体 CN Light</vt:lpstr>
      <vt:lpstr>思源黑体 CN Heavy</vt:lpstr>
      <vt:lpstr>Arial Unicode MS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哈奇Hatch</cp:lastModifiedBy>
  <cp:revision>84</cp:revision>
  <dcterms:created xsi:type="dcterms:W3CDTF">2023-08-09T12:44:00Z</dcterms:created>
  <dcterms:modified xsi:type="dcterms:W3CDTF">2026-06-16T05:55:15Z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F9F765A81B034FF9BA95C87F11D0192C_13</vt:lpwstr>
  </property>
</Properties>
</file>